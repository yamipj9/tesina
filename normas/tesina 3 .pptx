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74" r:id="rId2"/>
    <p:sldId id="275" r:id="rId3"/>
    <p:sldId id="283" r:id="rId4"/>
    <p:sldId id="281" r:id="rId5"/>
    <p:sldId id="298" r:id="rId6"/>
    <p:sldId id="285" r:id="rId7"/>
    <p:sldId id="284" r:id="rId8"/>
    <p:sldId id="286" r:id="rId9"/>
    <p:sldId id="282" r:id="rId10"/>
    <p:sldId id="287" r:id="rId11"/>
    <p:sldId id="290" r:id="rId12"/>
    <p:sldId id="289" r:id="rId13"/>
    <p:sldId id="288" r:id="rId14"/>
    <p:sldId id="291" r:id="rId15"/>
    <p:sldId id="292" r:id="rId16"/>
    <p:sldId id="293" r:id="rId17"/>
    <p:sldId id="294" r:id="rId18"/>
    <p:sldId id="295" r:id="rId19"/>
    <p:sldId id="296" r:id="rId20"/>
    <p:sldId id="297" r:id="rId21"/>
    <p:sldId id="299" r:id="rId22"/>
    <p:sldId id="300" r:id="rId23"/>
    <p:sldId id="301" r:id="rId24"/>
    <p:sldId id="277" r:id="rId25"/>
    <p:sldId id="278" r:id="rId26"/>
    <p:sldId id="280" r:id="rId27"/>
    <p:sldId id="276" r:id="rId28"/>
  </p:sldIdLst>
  <p:sldSz cx="9144000" cy="5143500" type="screen16x9"/>
  <p:notesSz cx="9144000" cy="6858000"/>
  <p:defaultTex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userDrawn="1">
          <p15:clr>
            <a:srgbClr val="A4A3A4"/>
          </p15:clr>
        </p15:guide>
        <p15:guide id="2" pos="288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28AD56"/>
    <a:srgbClr val="1852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p:cViewPr varScale="1">
        <p:scale>
          <a:sx n="119" d="100"/>
          <a:sy n="119" d="100"/>
        </p:scale>
        <p:origin x="102" y="108"/>
      </p:cViewPr>
      <p:guideLst>
        <p:guide orient="horz" pos="1621"/>
        <p:guide pos="2881"/>
      </p:guideLst>
    </p:cSldViewPr>
  </p:slideViewPr>
  <p:notesTextViewPr>
    <p:cViewPr>
      <p:scale>
        <a:sx n="1" d="1"/>
        <a:sy n="1" d="1"/>
      </p:scale>
      <p:origin x="0" y="0"/>
    </p:cViewPr>
  </p:notesTextViewPr>
  <p:notesViewPr>
    <p:cSldViewPr showGuides="1">
      <p:cViewPr varScale="1">
        <p:scale>
          <a:sx n="117" d="100"/>
          <a:sy n="117" d="100"/>
        </p:scale>
        <p:origin x="2352"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649DCB8-392E-40F3-82B8-A61CDD22F42E}" type="datetimeFigureOut">
              <a:rPr lang="es-MX" smtClean="0"/>
              <a:t>14/04/2026</a:t>
            </a:fld>
            <a:endParaRPr lang="es-MX"/>
          </a:p>
        </p:txBody>
      </p:sp>
      <p:sp>
        <p:nvSpPr>
          <p:cNvPr id="4" name="Marcador de imagen de diapositiva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D7AC556-5F5F-4A49-B74B-479FE9160B00}" type="slidenum">
              <a:rPr lang="es-MX" smtClean="0"/>
              <a:t>‹Nº›</a:t>
            </a:fld>
            <a:endParaRPr lang="es-MX"/>
          </a:p>
        </p:txBody>
      </p:sp>
    </p:spTree>
    <p:extLst>
      <p:ext uri="{BB962C8B-B14F-4D97-AF65-F5344CB8AC3E}">
        <p14:creationId xmlns:p14="http://schemas.microsoft.com/office/powerpoint/2010/main" val="2032405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
        <p:nvSpPr>
          <p:cNvPr id="11" name="4 Rectángulo"/>
          <p:cNvSpPr/>
          <p:nvPr userDrawn="1"/>
        </p:nvSpPr>
        <p:spPr>
          <a:xfrm>
            <a:off x="0" y="6694"/>
            <a:ext cx="9144000" cy="5144550"/>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74066" fontAlgn="auto">
              <a:spcBef>
                <a:spcPts val="0"/>
              </a:spcBef>
              <a:spcAft>
                <a:spcPts val="0"/>
              </a:spcAft>
              <a:defRPr/>
            </a:pPr>
            <a:endParaRPr lang="es-MX" sz="1323"/>
          </a:p>
        </p:txBody>
      </p:sp>
      <p:sp>
        <p:nvSpPr>
          <p:cNvPr id="2" name="1 Título"/>
          <p:cNvSpPr>
            <a:spLocks noGrp="1"/>
          </p:cNvSpPr>
          <p:nvPr>
            <p:ph type="title" hasCustomPrompt="1"/>
          </p:nvPr>
        </p:nvSpPr>
        <p:spPr>
          <a:xfrm>
            <a:off x="3523128" y="1609836"/>
            <a:ext cx="4484290" cy="142692"/>
          </a:xfrm>
        </p:spPr>
        <p:txBody>
          <a:bodyPr lIns="36000" tIns="0" anchor="t" anchorCtr="0">
            <a:noAutofit/>
          </a:bodyPr>
          <a:lstStyle>
            <a:lvl1pPr algn="r">
              <a:lnSpc>
                <a:spcPts val="800"/>
              </a:lnSpc>
              <a:defRPr sz="700" b="1" baseline="0">
                <a:solidFill>
                  <a:schemeClr val="tx1"/>
                </a:solidFill>
                <a:latin typeface="Gill Sans MT" panose="020B0502020104020203" pitchFamily="34" charset="0"/>
              </a:defRPr>
            </a:lvl1pPr>
          </a:lstStyle>
          <a:p>
            <a:r>
              <a:rPr lang="es-ES" dirty="0"/>
              <a:t>Haga clic aquí para escribir el nombre de la entidad académica</a:t>
            </a:r>
            <a:endParaRPr lang="es-MX" dirty="0"/>
          </a:p>
        </p:txBody>
      </p:sp>
      <p:sp>
        <p:nvSpPr>
          <p:cNvPr id="4" name="3 Marcador de texto"/>
          <p:cNvSpPr>
            <a:spLocks noGrp="1"/>
          </p:cNvSpPr>
          <p:nvPr>
            <p:ph type="body" sz="half" idx="2" hasCustomPrompt="1"/>
          </p:nvPr>
        </p:nvSpPr>
        <p:spPr>
          <a:xfrm>
            <a:off x="3529049" y="1877162"/>
            <a:ext cx="4484290" cy="190532"/>
          </a:xfrm>
        </p:spPr>
        <p:txBody>
          <a:bodyPr lIns="54000">
            <a:noAutofit/>
          </a:bodyPr>
          <a:lstStyle>
            <a:lvl1pPr marL="0" indent="0" algn="r">
              <a:lnSpc>
                <a:spcPts val="800"/>
              </a:lnSpc>
              <a:spcBef>
                <a:spcPts val="0"/>
              </a:spcBef>
              <a:buNone/>
              <a:defRPr sz="700" b="1" baseline="0">
                <a:solidFill>
                  <a:schemeClr val="tx1"/>
                </a:solidFill>
                <a:latin typeface="Gill Sans MT" panose="020B0502020104020203" pitchFamily="34" charset="0"/>
              </a:defRPr>
            </a:lvl1pPr>
            <a:lvl2pPr marL="149113" indent="0">
              <a:buNone/>
              <a:defRPr sz="392"/>
            </a:lvl2pPr>
            <a:lvl3pPr marL="298227" indent="0">
              <a:buNone/>
              <a:defRPr sz="326"/>
            </a:lvl3pPr>
            <a:lvl4pPr marL="447341" indent="0">
              <a:buNone/>
              <a:defRPr sz="294"/>
            </a:lvl4pPr>
            <a:lvl5pPr marL="596453" indent="0">
              <a:buNone/>
              <a:defRPr sz="294"/>
            </a:lvl5pPr>
            <a:lvl6pPr marL="745567" indent="0">
              <a:buNone/>
              <a:defRPr sz="294"/>
            </a:lvl6pPr>
            <a:lvl7pPr marL="894681" indent="0">
              <a:buNone/>
              <a:defRPr sz="294"/>
            </a:lvl7pPr>
            <a:lvl8pPr marL="1043795" indent="0">
              <a:buNone/>
              <a:defRPr sz="294"/>
            </a:lvl8pPr>
            <a:lvl9pPr marL="1192908" indent="0">
              <a:buNone/>
              <a:defRPr sz="294"/>
            </a:lvl9pPr>
          </a:lstStyle>
          <a:p>
            <a:pPr lvl="0"/>
            <a:r>
              <a:rPr lang="es-ES" dirty="0"/>
              <a:t>Haga clic aquí para escribir el nombre de la región</a:t>
            </a:r>
          </a:p>
        </p:txBody>
      </p:sp>
      <p:sp>
        <p:nvSpPr>
          <p:cNvPr id="14" name="Rectángulo 13"/>
          <p:cNvSpPr/>
          <p:nvPr userDrawn="1"/>
        </p:nvSpPr>
        <p:spPr>
          <a:xfrm>
            <a:off x="442039" y="-2"/>
            <a:ext cx="2425533" cy="3387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sp>
        <p:nvSpPr>
          <p:cNvPr id="15" name="Rectángulo 14"/>
          <p:cNvSpPr/>
          <p:nvPr userDrawn="1"/>
        </p:nvSpPr>
        <p:spPr>
          <a:xfrm>
            <a:off x="343706" y="1290714"/>
            <a:ext cx="2425533" cy="518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sp>
        <p:nvSpPr>
          <p:cNvPr id="18" name="Rectángulo 17"/>
          <p:cNvSpPr/>
          <p:nvPr userDrawn="1"/>
        </p:nvSpPr>
        <p:spPr>
          <a:xfrm rot="5400000">
            <a:off x="-552684" y="552692"/>
            <a:ext cx="1809624" cy="7042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sp>
        <p:nvSpPr>
          <p:cNvPr id="20" name="Rectángulo 19"/>
          <p:cNvSpPr/>
          <p:nvPr userDrawn="1"/>
        </p:nvSpPr>
        <p:spPr>
          <a:xfrm rot="5400000">
            <a:off x="1872849" y="552691"/>
            <a:ext cx="1809624" cy="7042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pic>
        <p:nvPicPr>
          <p:cNvPr id="17" name="3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87862" y="298800"/>
            <a:ext cx="1482702" cy="1277372"/>
          </a:xfrm>
          <a:prstGeom prst="rect">
            <a:avLst/>
          </a:prstGeom>
        </p:spPr>
      </p:pic>
      <p:pic>
        <p:nvPicPr>
          <p:cNvPr id="19" name="1 Imagen"/>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859782"/>
            <a:ext cx="2789022" cy="2283717"/>
          </a:xfrm>
          <a:prstGeom prst="rect">
            <a:avLst/>
          </a:prstGeom>
        </p:spPr>
      </p:pic>
    </p:spTree>
    <p:extLst>
      <p:ext uri="{BB962C8B-B14F-4D97-AF65-F5344CB8AC3E}">
        <p14:creationId xmlns:p14="http://schemas.microsoft.com/office/powerpoint/2010/main" val="289928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sp>
        <p:nvSpPr>
          <p:cNvPr id="3" name="1 Marcador de título"/>
          <p:cNvSpPr>
            <a:spLocks noGrp="1"/>
          </p:cNvSpPr>
          <p:nvPr>
            <p:ph type="title"/>
          </p:nvPr>
        </p:nvSpPr>
        <p:spPr>
          <a:xfrm>
            <a:off x="457202" y="685219"/>
            <a:ext cx="8229600" cy="342307"/>
          </a:xfrm>
          <a:prstGeom prst="rect">
            <a:avLst/>
          </a:prstGeom>
        </p:spPr>
        <p:txBody>
          <a:bodyPr vert="horz" lIns="91440" tIns="45720" rIns="91440" bIns="45720" rtlCol="0" anchor="ctr">
            <a:noAutofit/>
          </a:bodyPr>
          <a:lstStyle>
            <a:lvl1pPr>
              <a:lnSpc>
                <a:spcPts val="2600"/>
              </a:lnSpc>
              <a:defRPr sz="2200"/>
            </a:lvl1pPr>
          </a:lstStyle>
          <a:p>
            <a:r>
              <a:rPr lang="es-ES"/>
              <a:t>Haga clic para modificar el estilo de título del patrón</a:t>
            </a:r>
            <a:endParaRPr lang="es-MX" dirty="0"/>
          </a:p>
        </p:txBody>
      </p:sp>
      <p:sp>
        <p:nvSpPr>
          <p:cNvPr id="8" name="Marcador de texto 7"/>
          <p:cNvSpPr>
            <a:spLocks noGrp="1"/>
          </p:cNvSpPr>
          <p:nvPr>
            <p:ph type="body" sz="quarter" idx="10"/>
          </p:nvPr>
        </p:nvSpPr>
        <p:spPr>
          <a:xfrm>
            <a:off x="1228698" y="1190396"/>
            <a:ext cx="7458104" cy="3394472"/>
          </a:xfrm>
        </p:spPr>
        <p:txBody>
          <a:bodyPr/>
          <a:lstStyle/>
          <a:p>
            <a:pPr lvl="0"/>
            <a:r>
              <a:rPr lang="es-ES"/>
              <a:t>Haga clic para modificar los estilos de texto del patrón</a:t>
            </a:r>
          </a:p>
        </p:txBody>
      </p:sp>
    </p:spTree>
    <p:extLst>
      <p:ext uri="{BB962C8B-B14F-4D97-AF65-F5344CB8AC3E}">
        <p14:creationId xmlns:p14="http://schemas.microsoft.com/office/powerpoint/2010/main" val="952393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sp>
        <p:nvSpPr>
          <p:cNvPr id="3" name="1 Marcador de título"/>
          <p:cNvSpPr>
            <a:spLocks noGrp="1"/>
          </p:cNvSpPr>
          <p:nvPr>
            <p:ph type="title" hasCustomPrompt="1"/>
          </p:nvPr>
        </p:nvSpPr>
        <p:spPr>
          <a:xfrm>
            <a:off x="1202211" y="2070727"/>
            <a:ext cx="7458104" cy="429015"/>
          </a:xfrm>
          <a:prstGeom prst="rect">
            <a:avLst/>
          </a:prstGeom>
        </p:spPr>
        <p:txBody>
          <a:bodyPr vert="horz" lIns="91440" tIns="45720" rIns="91440" bIns="45720" rtlCol="0" anchor="ctr">
            <a:normAutofit/>
          </a:bodyPr>
          <a:lstStyle>
            <a:lvl1pPr algn="r">
              <a:lnSpc>
                <a:spcPts val="2300"/>
              </a:lnSpc>
              <a:defRPr sz="1900" baseline="0">
                <a:solidFill>
                  <a:schemeClr val="tx1">
                    <a:lumMod val="50000"/>
                    <a:lumOff val="50000"/>
                  </a:schemeClr>
                </a:solidFill>
              </a:defRPr>
            </a:lvl1pPr>
          </a:lstStyle>
          <a:p>
            <a:r>
              <a:rPr lang="es-ES" dirty="0"/>
              <a:t>Haga clic aquí para agregar el título</a:t>
            </a:r>
            <a:endParaRPr lang="es-MX" dirty="0"/>
          </a:p>
        </p:txBody>
      </p:sp>
      <p:sp>
        <p:nvSpPr>
          <p:cNvPr id="9" name="Marcador de texto 8"/>
          <p:cNvSpPr>
            <a:spLocks noGrp="1"/>
          </p:cNvSpPr>
          <p:nvPr>
            <p:ph type="body" sz="quarter" idx="10" hasCustomPrompt="1"/>
          </p:nvPr>
        </p:nvSpPr>
        <p:spPr>
          <a:xfrm>
            <a:off x="1202210" y="2464294"/>
            <a:ext cx="7457411" cy="821959"/>
          </a:xfrm>
        </p:spPr>
        <p:txBody>
          <a:bodyPr>
            <a:normAutofit/>
          </a:bodyPr>
          <a:lstStyle>
            <a:lvl1pPr algn="r">
              <a:lnSpc>
                <a:spcPts val="2600"/>
              </a:lnSpc>
              <a:defRPr sz="2200">
                <a:solidFill>
                  <a:schemeClr val="tx1"/>
                </a:solidFill>
              </a:defRPr>
            </a:lvl1pPr>
          </a:lstStyle>
          <a:p>
            <a:pPr lvl="0"/>
            <a:r>
              <a:rPr lang="es-ES" dirty="0"/>
              <a:t>Haga clic para agregar el subtítulo</a:t>
            </a:r>
          </a:p>
        </p:txBody>
      </p:sp>
      <p:pic>
        <p:nvPicPr>
          <p:cNvPr id="5" name="3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291830"/>
            <a:ext cx="2261378" cy="1851670"/>
          </a:xfrm>
          <a:prstGeom prst="rect">
            <a:avLst/>
          </a:prstGeom>
        </p:spPr>
      </p:pic>
    </p:spTree>
    <p:extLst>
      <p:ext uri="{BB962C8B-B14F-4D97-AF65-F5344CB8AC3E}">
        <p14:creationId xmlns:p14="http://schemas.microsoft.com/office/powerpoint/2010/main" val="1433037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11" name="Marcador de contenido 10"/>
          <p:cNvSpPr>
            <a:spLocks noGrp="1"/>
          </p:cNvSpPr>
          <p:nvPr>
            <p:ph sz="quarter" idx="14"/>
          </p:nvPr>
        </p:nvSpPr>
        <p:spPr>
          <a:xfrm>
            <a:off x="442762" y="1714367"/>
            <a:ext cx="4029604" cy="2865951"/>
          </a:xfrm>
        </p:spPr>
        <p:txBody>
          <a:bodyPr/>
          <a:lstStyle/>
          <a:p>
            <a:pPr lvl="0"/>
            <a:r>
              <a:rPr lang="es-ES"/>
              <a:t>Haga clic para modificar los estilos de texto del patrón</a:t>
            </a:r>
          </a:p>
        </p:txBody>
      </p:sp>
      <p:sp>
        <p:nvSpPr>
          <p:cNvPr id="13" name="Marcador de contenido 12"/>
          <p:cNvSpPr>
            <a:spLocks noGrp="1"/>
          </p:cNvSpPr>
          <p:nvPr>
            <p:ph sz="quarter" idx="15"/>
          </p:nvPr>
        </p:nvSpPr>
        <p:spPr>
          <a:xfrm>
            <a:off x="4703109" y="1714366"/>
            <a:ext cx="3866296" cy="2865951"/>
          </a:xfrm>
        </p:spPr>
        <p:txBody>
          <a:bodyPr/>
          <a:lstStyle/>
          <a:p>
            <a:pPr lvl="0"/>
            <a:r>
              <a:rPr lang="es-ES"/>
              <a:t>Haga clic para modificar los estilos de texto del patrón</a:t>
            </a:r>
          </a:p>
        </p:txBody>
      </p:sp>
      <p:sp>
        <p:nvSpPr>
          <p:cNvPr id="19" name="Marcador de texto 18"/>
          <p:cNvSpPr>
            <a:spLocks noGrp="1"/>
          </p:cNvSpPr>
          <p:nvPr>
            <p:ph type="body" sz="quarter" idx="16" hasCustomPrompt="1"/>
          </p:nvPr>
        </p:nvSpPr>
        <p:spPr>
          <a:xfrm>
            <a:off x="4703109" y="971007"/>
            <a:ext cx="3866297" cy="743359"/>
          </a:xfrm>
        </p:spPr>
        <p:txBody>
          <a:bodyPr/>
          <a:lstStyle>
            <a:lvl1pPr>
              <a:defRPr>
                <a:solidFill>
                  <a:schemeClr val="tx1"/>
                </a:solidFill>
              </a:defRPr>
            </a:lvl1pPr>
          </a:lstStyle>
          <a:p>
            <a:pPr lvl="0"/>
            <a:r>
              <a:rPr lang="es-ES" dirty="0"/>
              <a:t>Haga clic para modificar el estilo de título del patrón</a:t>
            </a:r>
          </a:p>
        </p:txBody>
      </p:sp>
      <p:sp>
        <p:nvSpPr>
          <p:cNvPr id="23" name="Marcador de texto 18"/>
          <p:cNvSpPr>
            <a:spLocks noGrp="1"/>
          </p:cNvSpPr>
          <p:nvPr>
            <p:ph type="body" sz="quarter" idx="17" hasCustomPrompt="1"/>
          </p:nvPr>
        </p:nvSpPr>
        <p:spPr>
          <a:xfrm>
            <a:off x="451207" y="971007"/>
            <a:ext cx="4021159" cy="743359"/>
          </a:xfrm>
        </p:spPr>
        <p:txBody>
          <a:bodyPr/>
          <a:lstStyle>
            <a:lvl1pPr>
              <a:defRPr>
                <a:solidFill>
                  <a:schemeClr val="tx1"/>
                </a:solidFill>
              </a:defRPr>
            </a:lvl1pPr>
          </a:lstStyle>
          <a:p>
            <a:pPr lvl="0"/>
            <a:r>
              <a:rPr lang="es-ES" dirty="0"/>
              <a:t>Haga clic para modificar el estilo de título del patrón</a:t>
            </a:r>
          </a:p>
        </p:txBody>
      </p:sp>
    </p:spTree>
    <p:extLst>
      <p:ext uri="{BB962C8B-B14F-4D97-AF65-F5344CB8AC3E}">
        <p14:creationId xmlns:p14="http://schemas.microsoft.com/office/powerpoint/2010/main" val="2726363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sp>
        <p:nvSpPr>
          <p:cNvPr id="4" name="Marcador de contenido 3"/>
          <p:cNvSpPr>
            <a:spLocks noGrp="1"/>
          </p:cNvSpPr>
          <p:nvPr>
            <p:ph sz="quarter" idx="10"/>
          </p:nvPr>
        </p:nvSpPr>
        <p:spPr>
          <a:xfrm>
            <a:off x="3719785" y="1476202"/>
            <a:ext cx="4851065" cy="3096664"/>
          </a:xfrm>
        </p:spPr>
        <p:txBody>
          <a:bodyPr/>
          <a:lstStyle>
            <a:lvl1pPr>
              <a:defRPr lang="es-ES" dirty="0" smtClean="0"/>
            </a:lvl1pPr>
          </a:lstStyle>
          <a:p>
            <a:pPr lvl="0"/>
            <a:r>
              <a:rPr lang="es-ES"/>
              <a:t>Haga clic para modificar los estilos de texto del patrón</a:t>
            </a:r>
          </a:p>
        </p:txBody>
      </p:sp>
      <p:sp>
        <p:nvSpPr>
          <p:cNvPr id="6" name="Marcador de texto 5"/>
          <p:cNvSpPr>
            <a:spLocks noGrp="1"/>
          </p:cNvSpPr>
          <p:nvPr>
            <p:ph type="body" sz="quarter" idx="11" hasCustomPrompt="1"/>
          </p:nvPr>
        </p:nvSpPr>
        <p:spPr>
          <a:xfrm>
            <a:off x="442769" y="904598"/>
            <a:ext cx="6425513" cy="571604"/>
          </a:xfrm>
        </p:spPr>
        <p:txBody>
          <a:bodyPr/>
          <a:lstStyle>
            <a:lvl1pPr>
              <a:defRPr b="0">
                <a:solidFill>
                  <a:schemeClr val="tx1"/>
                </a:solidFill>
              </a:defRPr>
            </a:lvl1pPr>
          </a:lstStyle>
          <a:p>
            <a:pPr lvl="0"/>
            <a:r>
              <a:rPr lang="es-ES" dirty="0"/>
              <a:t>Haga clic para modificar el estilo de título del patrón</a:t>
            </a:r>
          </a:p>
        </p:txBody>
      </p:sp>
      <p:sp>
        <p:nvSpPr>
          <p:cNvPr id="8" name="Marcador de texto 7"/>
          <p:cNvSpPr>
            <a:spLocks noGrp="1"/>
          </p:cNvSpPr>
          <p:nvPr>
            <p:ph type="body" sz="quarter" idx="12"/>
          </p:nvPr>
        </p:nvSpPr>
        <p:spPr>
          <a:xfrm>
            <a:off x="442039" y="1476203"/>
            <a:ext cx="3015844" cy="3096795"/>
          </a:xfrm>
        </p:spPr>
        <p:txBody>
          <a:bodyPr/>
          <a:lstStyle/>
          <a:p>
            <a:pPr lvl="0"/>
            <a:r>
              <a:rPr lang="es-ES"/>
              <a:t>Haga clic para modificar los estilos de texto del patrón</a:t>
            </a:r>
          </a:p>
        </p:txBody>
      </p:sp>
    </p:spTree>
    <p:extLst>
      <p:ext uri="{BB962C8B-B14F-4D97-AF65-F5344CB8AC3E}">
        <p14:creationId xmlns:p14="http://schemas.microsoft.com/office/powerpoint/2010/main" val="578621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617102" y="3917735"/>
            <a:ext cx="7920880" cy="288032"/>
          </a:xfrm>
        </p:spPr>
        <p:txBody>
          <a:bodyPr anchor="b" anchorCtr="0">
            <a:normAutofit/>
          </a:bodyPr>
          <a:lstStyle>
            <a:lvl1pPr algn="ctr">
              <a:lnSpc>
                <a:spcPts val="2100"/>
              </a:lnSpc>
              <a:defRPr sz="1900">
                <a:solidFill>
                  <a:schemeClr val="tx1"/>
                </a:solidFill>
              </a:defRPr>
            </a:lvl1pPr>
          </a:lstStyle>
          <a:p>
            <a:r>
              <a:rPr lang="es-ES" dirty="0"/>
              <a:t>Haga clic para agregar título</a:t>
            </a:r>
            <a:endParaRPr lang="es-MX" dirty="0"/>
          </a:p>
        </p:txBody>
      </p:sp>
      <p:sp>
        <p:nvSpPr>
          <p:cNvPr id="7" name="Marcador de posición de imagen 6"/>
          <p:cNvSpPr>
            <a:spLocks noGrp="1"/>
          </p:cNvSpPr>
          <p:nvPr>
            <p:ph type="pic" sz="quarter" idx="13"/>
          </p:nvPr>
        </p:nvSpPr>
        <p:spPr>
          <a:xfrm>
            <a:off x="1603047" y="932192"/>
            <a:ext cx="5939368" cy="2919372"/>
          </a:xfrm>
        </p:spPr>
        <p:txBody>
          <a:bodyPr/>
          <a:lstStyle>
            <a:lvl1pPr>
              <a:defRPr baseline="0"/>
            </a:lvl1pPr>
          </a:lstStyle>
          <a:p>
            <a:r>
              <a:rPr lang="es-ES"/>
              <a:t>Haga clic en el icono para agregar una imagen</a:t>
            </a:r>
            <a:endParaRPr lang="es-MX" dirty="0"/>
          </a:p>
        </p:txBody>
      </p:sp>
      <p:sp>
        <p:nvSpPr>
          <p:cNvPr id="9" name="Marcador de texto 8"/>
          <p:cNvSpPr>
            <a:spLocks noGrp="1"/>
          </p:cNvSpPr>
          <p:nvPr>
            <p:ph type="body" sz="quarter" idx="14" hasCustomPrompt="1"/>
          </p:nvPr>
        </p:nvSpPr>
        <p:spPr>
          <a:xfrm>
            <a:off x="611560" y="4299942"/>
            <a:ext cx="7920880" cy="277600"/>
          </a:xfrm>
        </p:spPr>
        <p:txBody>
          <a:bodyPr anchor="b" anchorCtr="0">
            <a:noAutofit/>
          </a:bodyPr>
          <a:lstStyle>
            <a:lvl1pPr algn="ctr">
              <a:lnSpc>
                <a:spcPts val="2200"/>
              </a:lnSpc>
              <a:defRPr/>
            </a:lvl1pPr>
          </a:lstStyle>
          <a:p>
            <a:pPr lvl="0"/>
            <a:r>
              <a:rPr lang="es-ES" dirty="0"/>
              <a:t>Haga clic para agregar texto</a:t>
            </a:r>
          </a:p>
        </p:txBody>
      </p:sp>
    </p:spTree>
    <p:extLst>
      <p:ext uri="{BB962C8B-B14F-4D97-AF65-F5344CB8AC3E}">
        <p14:creationId xmlns:p14="http://schemas.microsoft.com/office/powerpoint/2010/main" val="2660494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2" y="685219"/>
            <a:ext cx="8229600" cy="342307"/>
          </a:xfrm>
          <a:prstGeom prst="rect">
            <a:avLst/>
          </a:prstGeom>
        </p:spPr>
        <p:txBody>
          <a:bodyPr vert="horz" lIns="91440" tIns="45720" rIns="91440" bIns="45720" rtlCol="0" anchor="ctr">
            <a:noAutofit/>
          </a:bodyPr>
          <a:lstStyle/>
          <a:p>
            <a:r>
              <a:rPr lang="es-ES" dirty="0"/>
              <a:t>Haga clic para modificar el estilo de título del patrón</a:t>
            </a:r>
            <a:endParaRPr lang="es-MX" dirty="0"/>
          </a:p>
        </p:txBody>
      </p:sp>
      <p:sp>
        <p:nvSpPr>
          <p:cNvPr id="3" name="2 Marcador de texto"/>
          <p:cNvSpPr>
            <a:spLocks noGrp="1"/>
          </p:cNvSpPr>
          <p:nvPr>
            <p:ph type="body" idx="1"/>
          </p:nvPr>
        </p:nvSpPr>
        <p:spPr>
          <a:xfrm>
            <a:off x="1228698" y="1200154"/>
            <a:ext cx="7458104" cy="3394472"/>
          </a:xfrm>
          <a:prstGeom prst="rect">
            <a:avLst/>
          </a:prstGeom>
        </p:spPr>
        <p:txBody>
          <a:bodyPr vert="horz" lIns="91440" tIns="45720" rIns="91440" bIns="45720" rtlCol="0">
            <a:normAutofit/>
          </a:bodyPr>
          <a:lstStyle/>
          <a:p>
            <a:pPr lvl="0"/>
            <a:r>
              <a:rPr lang="es-ES" dirty="0"/>
              <a:t>Haga clic para modificar el estilo de texto del patrón</a:t>
            </a:r>
          </a:p>
        </p:txBody>
      </p:sp>
      <p:cxnSp>
        <p:nvCxnSpPr>
          <p:cNvPr id="6" name="3 Conector recto"/>
          <p:cNvCxnSpPr/>
          <p:nvPr userDrawn="1"/>
        </p:nvCxnSpPr>
        <p:spPr>
          <a:xfrm>
            <a:off x="508238" y="483518"/>
            <a:ext cx="812752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7" name="1 Imagen"/>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6940273" y="275506"/>
            <a:ext cx="1664175" cy="108000"/>
          </a:xfrm>
          <a:prstGeom prst="rect">
            <a:avLst/>
          </a:prstGeom>
        </p:spPr>
      </p:pic>
    </p:spTree>
    <p:extLst>
      <p:ext uri="{BB962C8B-B14F-4D97-AF65-F5344CB8AC3E}">
        <p14:creationId xmlns:p14="http://schemas.microsoft.com/office/powerpoint/2010/main" val="18977673"/>
      </p:ext>
    </p:extLst>
  </p:cSld>
  <p:clrMap bg1="lt1" tx1="dk1" bg2="lt2" tx2="dk2" accent1="accent1" accent2="accent2" accent3="accent3" accent4="accent4" accent5="accent5" accent6="accent6" hlink="hlink" folHlink="folHlink"/>
  <p:sldLayoutIdLst>
    <p:sldLayoutId id="2147483657" r:id="rId1"/>
    <p:sldLayoutId id="2147483662" r:id="rId2"/>
    <p:sldLayoutId id="2147483661" r:id="rId3"/>
    <p:sldLayoutId id="2147483659" r:id="rId4"/>
    <p:sldLayoutId id="2147483663" r:id="rId5"/>
    <p:sldLayoutId id="2147483658" r:id="rId6"/>
  </p:sldLayoutIdLst>
  <p:txStyles>
    <p:title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p:titleStyle>
    <p:bodyStyle>
      <a:lvl1pPr marL="0" indent="0" algn="l" defTabSz="298227" rtl="0" eaLnBrk="1" latinLnBrk="0" hangingPunct="1">
        <a:lnSpc>
          <a:spcPts val="2300"/>
        </a:lnSpc>
        <a:spcBef>
          <a:spcPct val="20000"/>
        </a:spcBef>
        <a:buFont typeface="Arial" panose="020B0604020202020204" pitchFamily="34" charset="0"/>
        <a:buNone/>
        <a:defRPr sz="1900" kern="1200">
          <a:solidFill>
            <a:schemeClr val="tx1">
              <a:lumMod val="50000"/>
              <a:lumOff val="50000"/>
            </a:schemeClr>
          </a:solidFill>
          <a:latin typeface="Gill Sans MT" panose="020B0502020104020203" pitchFamily="34" charset="0"/>
          <a:ea typeface="+mn-ea"/>
          <a:cs typeface="+mn-cs"/>
        </a:defRPr>
      </a:lvl1pPr>
      <a:lvl2pPr marL="242309" indent="-93196" algn="l" defTabSz="298227" rtl="0" eaLnBrk="1" latinLnBrk="0" hangingPunct="1">
        <a:spcBef>
          <a:spcPct val="20000"/>
        </a:spcBef>
        <a:buFont typeface="Arial" panose="020B0604020202020204" pitchFamily="34" charset="0"/>
        <a:buChar char="–"/>
        <a:defRPr sz="913" kern="1200">
          <a:solidFill>
            <a:schemeClr val="tx1"/>
          </a:solidFill>
          <a:latin typeface="+mn-lt"/>
          <a:ea typeface="+mn-ea"/>
          <a:cs typeface="+mn-cs"/>
        </a:defRPr>
      </a:lvl2pPr>
      <a:lvl3pPr marL="372784" indent="-74557" algn="l" defTabSz="298227" rtl="0" eaLnBrk="1" latinLnBrk="0" hangingPunct="1">
        <a:spcBef>
          <a:spcPct val="20000"/>
        </a:spcBef>
        <a:buFont typeface="Arial" panose="020B0604020202020204" pitchFamily="34" charset="0"/>
        <a:buChar char="•"/>
        <a:defRPr sz="783" kern="1200">
          <a:solidFill>
            <a:schemeClr val="tx1"/>
          </a:solidFill>
          <a:latin typeface="+mn-lt"/>
          <a:ea typeface="+mn-ea"/>
          <a:cs typeface="+mn-cs"/>
        </a:defRPr>
      </a:lvl3pPr>
      <a:lvl4pPr marL="521899"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4pPr>
      <a:lvl5pPr marL="67101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5pPr>
      <a:lvl6pPr marL="82012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6pPr>
      <a:lvl7pPr marL="969238"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7pPr>
      <a:lvl8pPr marL="111835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8pPr>
      <a:lvl9pPr marL="126746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9pPr>
    </p:bodyStyle>
    <p:otherStyle>
      <a:defPPr>
        <a:defRPr lang="es-MX"/>
      </a:defPPr>
      <a:lvl1pPr marL="0" algn="l" defTabSz="298227" rtl="0" eaLnBrk="1" latinLnBrk="0" hangingPunct="1">
        <a:defRPr sz="587" kern="1200">
          <a:solidFill>
            <a:schemeClr val="tx1"/>
          </a:solidFill>
          <a:latin typeface="+mn-lt"/>
          <a:ea typeface="+mn-ea"/>
          <a:cs typeface="+mn-cs"/>
        </a:defRPr>
      </a:lvl1pPr>
      <a:lvl2pPr marL="149113" algn="l" defTabSz="298227" rtl="0" eaLnBrk="1" latinLnBrk="0" hangingPunct="1">
        <a:defRPr sz="587" kern="1200">
          <a:solidFill>
            <a:schemeClr val="tx1"/>
          </a:solidFill>
          <a:latin typeface="+mn-lt"/>
          <a:ea typeface="+mn-ea"/>
          <a:cs typeface="+mn-cs"/>
        </a:defRPr>
      </a:lvl2pPr>
      <a:lvl3pPr marL="298227" algn="l" defTabSz="298227" rtl="0" eaLnBrk="1" latinLnBrk="0" hangingPunct="1">
        <a:defRPr sz="587" kern="1200">
          <a:solidFill>
            <a:schemeClr val="tx1"/>
          </a:solidFill>
          <a:latin typeface="+mn-lt"/>
          <a:ea typeface="+mn-ea"/>
          <a:cs typeface="+mn-cs"/>
        </a:defRPr>
      </a:lvl3pPr>
      <a:lvl4pPr marL="447341" algn="l" defTabSz="298227" rtl="0" eaLnBrk="1" latinLnBrk="0" hangingPunct="1">
        <a:defRPr sz="587" kern="1200">
          <a:solidFill>
            <a:schemeClr val="tx1"/>
          </a:solidFill>
          <a:latin typeface="+mn-lt"/>
          <a:ea typeface="+mn-ea"/>
          <a:cs typeface="+mn-cs"/>
        </a:defRPr>
      </a:lvl4pPr>
      <a:lvl5pPr marL="596453" algn="l" defTabSz="298227" rtl="0" eaLnBrk="1" latinLnBrk="0" hangingPunct="1">
        <a:defRPr sz="587" kern="1200">
          <a:solidFill>
            <a:schemeClr val="tx1"/>
          </a:solidFill>
          <a:latin typeface="+mn-lt"/>
          <a:ea typeface="+mn-ea"/>
          <a:cs typeface="+mn-cs"/>
        </a:defRPr>
      </a:lvl5pPr>
      <a:lvl6pPr marL="745567" algn="l" defTabSz="298227" rtl="0" eaLnBrk="1" latinLnBrk="0" hangingPunct="1">
        <a:defRPr sz="587" kern="1200">
          <a:solidFill>
            <a:schemeClr val="tx1"/>
          </a:solidFill>
          <a:latin typeface="+mn-lt"/>
          <a:ea typeface="+mn-ea"/>
          <a:cs typeface="+mn-cs"/>
        </a:defRPr>
      </a:lvl6pPr>
      <a:lvl7pPr marL="894681" algn="l" defTabSz="298227" rtl="0" eaLnBrk="1" latinLnBrk="0" hangingPunct="1">
        <a:defRPr sz="587" kern="1200">
          <a:solidFill>
            <a:schemeClr val="tx1"/>
          </a:solidFill>
          <a:latin typeface="+mn-lt"/>
          <a:ea typeface="+mn-ea"/>
          <a:cs typeface="+mn-cs"/>
        </a:defRPr>
      </a:lvl7pPr>
      <a:lvl8pPr marL="1043795" algn="l" defTabSz="298227" rtl="0" eaLnBrk="1" latinLnBrk="0" hangingPunct="1">
        <a:defRPr sz="587" kern="1200">
          <a:solidFill>
            <a:schemeClr val="tx1"/>
          </a:solidFill>
          <a:latin typeface="+mn-lt"/>
          <a:ea typeface="+mn-ea"/>
          <a:cs typeface="+mn-cs"/>
        </a:defRPr>
      </a:lvl8pPr>
      <a:lvl9pPr marL="1192908" algn="l" defTabSz="298227" rtl="0" eaLnBrk="1" latinLnBrk="0" hangingPunct="1">
        <a:defRPr sz="58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Facultad de Ingeniería de la construcción y el Hábitat</a:t>
            </a:r>
            <a:br>
              <a:rPr lang="es-MX" dirty="0"/>
            </a:br>
            <a:endParaRPr lang="es-MX" dirty="0"/>
          </a:p>
        </p:txBody>
      </p:sp>
      <p:sp>
        <p:nvSpPr>
          <p:cNvPr id="5" name="CuadroTexto 4"/>
          <p:cNvSpPr txBox="1"/>
          <p:nvPr/>
        </p:nvSpPr>
        <p:spPr>
          <a:xfrm>
            <a:off x="3816528" y="2198292"/>
            <a:ext cx="4190890" cy="2126031"/>
          </a:xfrm>
          <a:prstGeom prst="rect">
            <a:avLst/>
          </a:prstGeom>
          <a:noFill/>
        </p:spPr>
        <p:txBody>
          <a:bodyPr wrap="square" rtlCol="0">
            <a:spAutoFit/>
          </a:bodyPr>
          <a:lstStyle/>
          <a:p>
            <a:pPr algn="r">
              <a:lnSpc>
                <a:spcPts val="1100"/>
              </a:lnSpc>
            </a:pPr>
            <a:r>
              <a:rPr lang="es-ES" sz="900" dirty="0">
                <a:latin typeface="Gill Sans MT" panose="020B0502020104020203" pitchFamily="34" charset="0"/>
              </a:rPr>
              <a:t>Ingeniería Civil</a:t>
            </a:r>
            <a:endParaRPr lang="es-ES" sz="794" dirty="0">
              <a:latin typeface="Gill Sans MT" panose="020B0502020104020203" pitchFamily="34" charset="0"/>
            </a:endParaRPr>
          </a:p>
          <a:p>
            <a:pPr algn="r">
              <a:lnSpc>
                <a:spcPts val="1400"/>
              </a:lnSpc>
            </a:pPr>
            <a:r>
              <a:rPr lang="es-ES" sz="1200" dirty="0">
                <a:latin typeface="Gill Sans MT" panose="020B0502020104020203" pitchFamily="34" charset="0"/>
              </a:rPr>
              <a:t>Comparativa en el diseño de placas base entre las NTC 2017 y las NTC 2023 para el diseño de estructuras de acero</a:t>
            </a:r>
          </a:p>
          <a:p>
            <a:pPr algn="r">
              <a:lnSpc>
                <a:spcPts val="1058"/>
              </a:lnSpc>
            </a:pPr>
            <a:endParaRPr lang="es-ES" sz="926" dirty="0">
              <a:latin typeface="Gill Sans MT" panose="020B0502020104020203" pitchFamily="34" charset="0"/>
            </a:endParaRPr>
          </a:p>
          <a:p>
            <a:pPr algn="r">
              <a:lnSpc>
                <a:spcPts val="1100"/>
              </a:lnSpc>
            </a:pPr>
            <a:r>
              <a:rPr lang="es-ES" sz="900" dirty="0">
                <a:latin typeface="Gill Sans MT" panose="020B0502020104020203" pitchFamily="34" charset="0"/>
              </a:rPr>
              <a:t>(Tesina para acreditar la Experiencia </a:t>
            </a:r>
            <a:r>
              <a:rPr lang="es-ES" sz="900" dirty="0" err="1">
                <a:latin typeface="Gill Sans MT" panose="020B0502020104020203" pitchFamily="34" charset="0"/>
              </a:rPr>
              <a:t>recepcional</a:t>
            </a:r>
            <a:endParaRPr lang="es-ES" sz="900" dirty="0">
              <a:latin typeface="Gill Sans MT" panose="020B0502020104020203" pitchFamily="34" charset="0"/>
            </a:endParaRPr>
          </a:p>
          <a:p>
            <a:pPr algn="r">
              <a:lnSpc>
                <a:spcPts val="1100"/>
              </a:lnSpc>
            </a:pPr>
            <a:r>
              <a:rPr lang="es-ES" sz="900" dirty="0">
                <a:latin typeface="Gill Sans MT" panose="020B0502020104020203" pitchFamily="34" charset="0"/>
              </a:rPr>
              <a:t>Presenta:</a:t>
            </a:r>
          </a:p>
          <a:p>
            <a:pPr algn="r">
              <a:lnSpc>
                <a:spcPts val="1100"/>
              </a:lnSpc>
            </a:pPr>
            <a:r>
              <a:rPr lang="es-ES" sz="900" b="1" dirty="0">
                <a:latin typeface="Gill Sans MT" panose="020B0502020104020203" pitchFamily="34" charset="0"/>
              </a:rPr>
              <a:t>Yamileth Pérez Jaramillo</a:t>
            </a:r>
          </a:p>
          <a:p>
            <a:pPr algn="r">
              <a:lnSpc>
                <a:spcPts val="1100"/>
              </a:lnSpc>
            </a:pPr>
            <a:endParaRPr lang="es-ES" sz="900" dirty="0">
              <a:latin typeface="Gill Sans MT" panose="020B0502020104020203" pitchFamily="34" charset="0"/>
            </a:endParaRPr>
          </a:p>
          <a:p>
            <a:pPr algn="r">
              <a:lnSpc>
                <a:spcPts val="1100"/>
              </a:lnSpc>
            </a:pPr>
            <a:r>
              <a:rPr lang="es-ES" sz="900" dirty="0">
                <a:latin typeface="Gill Sans MT" panose="020B0502020104020203" pitchFamily="34" charset="0"/>
              </a:rPr>
              <a:t>Mayo de 2026</a:t>
            </a:r>
          </a:p>
          <a:p>
            <a:pPr algn="r">
              <a:lnSpc>
                <a:spcPts val="1100"/>
              </a:lnSpc>
            </a:pPr>
            <a:endParaRPr lang="es-ES" sz="900" dirty="0">
              <a:latin typeface="Gill Sans MT" panose="020B0502020104020203" pitchFamily="34" charset="0"/>
            </a:endParaRPr>
          </a:p>
          <a:p>
            <a:pPr algn="r">
              <a:lnSpc>
                <a:spcPts val="1100"/>
              </a:lnSpc>
            </a:pPr>
            <a:r>
              <a:rPr lang="es-ES" sz="900" dirty="0">
                <a:latin typeface="Gill Sans MT" panose="020B0502020104020203" pitchFamily="34" charset="0"/>
              </a:rPr>
              <a:t>“Lis de Veracruz: Arte, Ciencia, Luz</a:t>
            </a:r>
            <a:r>
              <a:rPr lang="es-ES" sz="794" dirty="0">
                <a:latin typeface="Gill Sans MT" panose="020B0502020104020203" pitchFamily="34" charset="0"/>
              </a:rPr>
              <a:t>”</a:t>
            </a:r>
          </a:p>
          <a:p>
            <a:pPr algn="r"/>
            <a:endParaRPr lang="es-ES" sz="794" b="1" dirty="0">
              <a:latin typeface="Gill Sans MT" panose="020B0502020104020203" pitchFamily="34" charset="0"/>
            </a:endParaRPr>
          </a:p>
          <a:p>
            <a:pPr algn="r"/>
            <a:endParaRPr lang="es-MX" sz="1838" dirty="0">
              <a:latin typeface="Gill Sans MT" panose="020B0502020104020203" pitchFamily="34" charset="0"/>
            </a:endParaRPr>
          </a:p>
        </p:txBody>
      </p:sp>
      <p:sp>
        <p:nvSpPr>
          <p:cNvPr id="3" name="Rectangle 1">
            <a:extLst>
              <a:ext uri="{FF2B5EF4-FFF2-40B4-BE49-F238E27FC236}">
                <a16:creationId xmlns:a16="http://schemas.microsoft.com/office/drawing/2014/main" id="{24F6DE99-80A0-F959-9B80-7C1AEE6B6DDE}"/>
              </a:ext>
            </a:extLst>
          </p:cNvPr>
          <p:cNvSpPr>
            <a:spLocks noGrp="1" noChangeArrowheads="1"/>
          </p:cNvSpPr>
          <p:nvPr>
            <p:ph type="body" sz="half" idx="2"/>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s-MX" altLang="es-MX" sz="900" b="1" i="0" u="none" strike="noStrike" cap="none" normalizeH="0" baseline="0">
                <a:ln>
                  <a:noFill/>
                </a:ln>
                <a:solidFill>
                  <a:schemeClr val="tx1"/>
                </a:solidFill>
                <a:effectLst/>
                <a:latin typeface="Gill Sans MT" panose="020B0502020104020203" pitchFamily="34" charset="0"/>
                <a:ea typeface="Cambria" panose="02040503050406030204" pitchFamily="18" charset="0"/>
                <a:cs typeface="Cambria" panose="02040503050406030204" pitchFamily="18" charset="0"/>
              </a:rPr>
              <a:t>Región</a:t>
            </a:r>
            <a:r>
              <a:rPr kumimoji="0" lang="es-MX" altLang="es-MX" sz="800" b="1" i="0" u="none" strike="noStrike" cap="none" normalizeH="0" baseline="0">
                <a:ln>
                  <a:noFill/>
                </a:ln>
                <a:solidFill>
                  <a:schemeClr val="tx1"/>
                </a:solidFill>
                <a:effectLst/>
                <a:latin typeface="Gill Sans MT" panose="020B0502020104020203" pitchFamily="34" charset="0"/>
                <a:ea typeface="Cambria" panose="02040503050406030204" pitchFamily="18" charset="0"/>
                <a:cs typeface="Cambria" panose="02040503050406030204" pitchFamily="18" charset="0"/>
              </a:rPr>
              <a:t> </a:t>
            </a:r>
            <a:r>
              <a:rPr kumimoji="0" lang="es-MX" altLang="es-MX" sz="900" b="1" i="0" u="none" strike="noStrike" cap="none" normalizeH="0" baseline="0">
                <a:ln>
                  <a:noFill/>
                </a:ln>
                <a:solidFill>
                  <a:schemeClr val="tx1"/>
                </a:solidFill>
                <a:effectLst/>
                <a:latin typeface="Gill Sans MT" panose="020B0502020104020203" pitchFamily="34" charset="0"/>
                <a:ea typeface="Cambria" panose="02040503050406030204" pitchFamily="18" charset="0"/>
                <a:cs typeface="Times New Roman" panose="02020603050405020304" pitchFamily="18" charset="0"/>
              </a:rPr>
              <a:t>Veracruz</a:t>
            </a:r>
            <a:endParaRPr kumimoji="0" lang="es-MX" altLang="es-MX"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01506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Índice </a:t>
            </a:r>
          </a:p>
        </p:txBody>
      </p:sp>
      <p:sp>
        <p:nvSpPr>
          <p:cNvPr id="3" name="Marcador de texto 2"/>
          <p:cNvSpPr>
            <a:spLocks noGrp="1"/>
          </p:cNvSpPr>
          <p:nvPr>
            <p:ph type="body" sz="quarter" idx="10"/>
          </p:nvPr>
        </p:nvSpPr>
        <p:spPr>
          <a:xfrm>
            <a:off x="683568" y="1203598"/>
            <a:ext cx="7458104" cy="3394472"/>
          </a:xfrm>
        </p:spPr>
        <p:txBody>
          <a:bodyPr/>
          <a:lstStyle/>
          <a:p>
            <a:r>
              <a:rPr lang="es-ES" dirty="0">
                <a:solidFill>
                  <a:schemeClr val="tx1"/>
                </a:solidFill>
              </a:rPr>
              <a:t>1. Introducción</a:t>
            </a:r>
          </a:p>
          <a:p>
            <a:r>
              <a:rPr lang="es-ES" dirty="0">
                <a:solidFill>
                  <a:schemeClr val="tx1"/>
                </a:solidFill>
              </a:rPr>
              <a:t>2. Planteamiento del problema </a:t>
            </a:r>
          </a:p>
          <a:p>
            <a:r>
              <a:rPr lang="es-ES" dirty="0">
                <a:solidFill>
                  <a:schemeClr val="tx1"/>
                </a:solidFill>
              </a:rPr>
              <a:t>3. Objetivos </a:t>
            </a:r>
          </a:p>
          <a:p>
            <a:r>
              <a:rPr lang="es-ES" dirty="0">
                <a:solidFill>
                  <a:schemeClr val="tx1"/>
                </a:solidFill>
              </a:rPr>
              <a:t>4. Marco teórico </a:t>
            </a:r>
          </a:p>
          <a:p>
            <a:r>
              <a:rPr lang="es-ES" dirty="0">
                <a:solidFill>
                  <a:schemeClr val="tx1"/>
                </a:solidFill>
              </a:rPr>
              <a:t>5. Metodología </a:t>
            </a:r>
            <a:endParaRPr lang="es-MX" dirty="0">
              <a:solidFill>
                <a:schemeClr val="tx1"/>
              </a:solidFill>
            </a:endParaRPr>
          </a:p>
        </p:txBody>
      </p:sp>
    </p:spTree>
    <p:extLst>
      <p:ext uri="{BB962C8B-B14F-4D97-AF65-F5344CB8AC3E}">
        <p14:creationId xmlns:p14="http://schemas.microsoft.com/office/powerpoint/2010/main" val="1353462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92BD5-FA03-F873-2F54-184A37134EAD}"/>
            </a:ext>
          </a:extLst>
        </p:cNvPr>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EFCE68BA-BD74-0DFA-3A41-2DD615202970}"/>
              </a:ext>
            </a:extLst>
          </p:cNvPr>
          <p:cNvSpPr>
            <a:spLocks noGrp="1"/>
          </p:cNvSpPr>
          <p:nvPr>
            <p:ph sz="quarter" idx="14"/>
          </p:nvPr>
        </p:nvSpPr>
        <p:spPr>
          <a:xfrm>
            <a:off x="400094" y="1275606"/>
            <a:ext cx="4029604" cy="2865951"/>
          </a:xfrm>
        </p:spPr>
        <p:txBody>
          <a:bodyPr/>
          <a:lstStyle/>
          <a:p>
            <a:pPr algn="just"/>
            <a:r>
              <a:rPr lang="es-ES" dirty="0">
                <a:solidFill>
                  <a:schemeClr val="tx1"/>
                </a:solidFill>
              </a:rPr>
              <a:t>En el vasto dominio de la ingeniería estructural y la sismorresistencia, el diseño de las conexiones entre la superestructura de acero y la subestructura de cimentación de concreto reforzado constituye uno de los nodos analíticos más críticos y complejos.</a:t>
            </a:r>
          </a:p>
          <a:p>
            <a:endParaRPr lang="es-MX" dirty="0"/>
          </a:p>
        </p:txBody>
      </p:sp>
      <p:pic>
        <p:nvPicPr>
          <p:cNvPr id="7" name="Marcador de contenido 6">
            <a:extLst>
              <a:ext uri="{FF2B5EF4-FFF2-40B4-BE49-F238E27FC236}">
                <a16:creationId xmlns:a16="http://schemas.microsoft.com/office/drawing/2014/main" id="{5DD98CED-6FC1-3C7D-43BC-E117CD63578E}"/>
              </a:ext>
            </a:extLst>
          </p:cNvPr>
          <p:cNvPicPr>
            <a:picLocks noGrp="1" noChangeAspect="1"/>
          </p:cNvPicPr>
          <p:nvPr>
            <p:ph sz="quarter" idx="15"/>
          </p:nvPr>
        </p:nvPicPr>
        <p:blipFill>
          <a:blip r:embed="rId2"/>
          <a:stretch>
            <a:fillRect/>
          </a:stretch>
        </p:blipFill>
        <p:spPr>
          <a:xfrm>
            <a:off x="5148064" y="856372"/>
            <a:ext cx="2511770" cy="2761727"/>
          </a:xfrm>
          <a:prstGeom prst="rect">
            <a:avLst/>
          </a:prstGeom>
        </p:spPr>
      </p:pic>
      <p:sp>
        <p:nvSpPr>
          <p:cNvPr id="6" name="Título 1">
            <a:extLst>
              <a:ext uri="{FF2B5EF4-FFF2-40B4-BE49-F238E27FC236}">
                <a16:creationId xmlns:a16="http://schemas.microsoft.com/office/drawing/2014/main" id="{ED7BEC98-A9C4-C237-A001-2836AB074FEF}"/>
              </a:ext>
            </a:extLst>
          </p:cNvPr>
          <p:cNvSpPr txBox="1">
            <a:spLocks/>
          </p:cNvSpPr>
          <p:nvPr/>
        </p:nvSpPr>
        <p:spPr>
          <a:xfrm>
            <a:off x="457202" y="685219"/>
            <a:ext cx="8229600" cy="342307"/>
          </a:xfrm>
          <a:prstGeom prst="rect">
            <a:avLst/>
          </a:prstGeom>
        </p:spPr>
        <p:txBody>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r>
              <a:rPr lang="es-MX" dirty="0"/>
              <a:t>1. Introducción </a:t>
            </a:r>
          </a:p>
        </p:txBody>
      </p:sp>
      <p:sp>
        <p:nvSpPr>
          <p:cNvPr id="8" name="Marcador de contenido 1">
            <a:extLst>
              <a:ext uri="{FF2B5EF4-FFF2-40B4-BE49-F238E27FC236}">
                <a16:creationId xmlns:a16="http://schemas.microsoft.com/office/drawing/2014/main" id="{A7DA7121-424F-B391-70F8-DD8B70C60BB7}"/>
              </a:ext>
            </a:extLst>
          </p:cNvPr>
          <p:cNvSpPr txBox="1">
            <a:spLocks/>
          </p:cNvSpPr>
          <p:nvPr/>
        </p:nvSpPr>
        <p:spPr>
          <a:xfrm>
            <a:off x="4714304" y="3618098"/>
            <a:ext cx="3311236" cy="969875"/>
          </a:xfrm>
          <a:prstGeom prst="rect">
            <a:avLst/>
          </a:prstGeom>
        </p:spPr>
        <p:txBody>
          <a:bodyPr vert="horz" lIns="91440" tIns="45720" rIns="91440" bIns="45720" rtlCol="0">
            <a:noAutofit/>
          </a:bodyPr>
          <a:lstStyle>
            <a:lvl1pPr marL="0" indent="0" algn="l" defTabSz="298227" rtl="0" eaLnBrk="1" latinLnBrk="0" hangingPunct="1">
              <a:lnSpc>
                <a:spcPts val="2300"/>
              </a:lnSpc>
              <a:spcBef>
                <a:spcPct val="20000"/>
              </a:spcBef>
              <a:buFont typeface="Arial" panose="020B0604020202020204" pitchFamily="34" charset="0"/>
              <a:buNone/>
              <a:defRPr sz="1900" kern="1200">
                <a:solidFill>
                  <a:schemeClr val="tx1">
                    <a:lumMod val="50000"/>
                    <a:lumOff val="50000"/>
                  </a:schemeClr>
                </a:solidFill>
                <a:latin typeface="Gill Sans MT" panose="020B0502020104020203" pitchFamily="34" charset="0"/>
                <a:ea typeface="+mn-ea"/>
                <a:cs typeface="+mn-cs"/>
              </a:defRPr>
            </a:lvl1pPr>
            <a:lvl2pPr marL="242309" indent="-93196" algn="l" defTabSz="298227" rtl="0" eaLnBrk="1" latinLnBrk="0" hangingPunct="1">
              <a:spcBef>
                <a:spcPct val="20000"/>
              </a:spcBef>
              <a:buFont typeface="Arial" panose="020B0604020202020204" pitchFamily="34" charset="0"/>
              <a:buChar char="–"/>
              <a:defRPr sz="913" kern="1200">
                <a:solidFill>
                  <a:schemeClr val="tx1"/>
                </a:solidFill>
                <a:latin typeface="+mn-lt"/>
                <a:ea typeface="+mn-ea"/>
                <a:cs typeface="+mn-cs"/>
              </a:defRPr>
            </a:lvl2pPr>
            <a:lvl3pPr marL="372784" indent="-74557" algn="l" defTabSz="298227" rtl="0" eaLnBrk="1" latinLnBrk="0" hangingPunct="1">
              <a:spcBef>
                <a:spcPct val="20000"/>
              </a:spcBef>
              <a:buFont typeface="Arial" panose="020B0604020202020204" pitchFamily="34" charset="0"/>
              <a:buChar char="•"/>
              <a:defRPr sz="783" kern="1200">
                <a:solidFill>
                  <a:schemeClr val="tx1"/>
                </a:solidFill>
                <a:latin typeface="+mn-lt"/>
                <a:ea typeface="+mn-ea"/>
                <a:cs typeface="+mn-cs"/>
              </a:defRPr>
            </a:lvl3pPr>
            <a:lvl4pPr marL="521899"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4pPr>
            <a:lvl5pPr marL="67101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5pPr>
            <a:lvl6pPr marL="82012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6pPr>
            <a:lvl7pPr marL="969238"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7pPr>
            <a:lvl8pPr marL="111835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8pPr>
            <a:lvl9pPr marL="126746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9pPr>
          </a:lstStyle>
          <a:p>
            <a:pPr algn="just"/>
            <a:r>
              <a:rPr lang="es-MX" sz="1100" b="1" dirty="0">
                <a:solidFill>
                  <a:schemeClr val="tx1"/>
                </a:solidFill>
              </a:rPr>
              <a:t>Figura 1.1</a:t>
            </a:r>
            <a:r>
              <a:rPr lang="es-MX" sz="1100" dirty="0">
                <a:solidFill>
                  <a:schemeClr val="tx1"/>
                </a:solidFill>
              </a:rPr>
              <a:t>. Vista en corte de una conexión columna-cimentación: columna de acero, placa base, pernos de anclaje, </a:t>
            </a:r>
            <a:r>
              <a:rPr lang="es-MX" sz="1100" dirty="0" err="1">
                <a:solidFill>
                  <a:schemeClr val="tx1"/>
                </a:solidFill>
              </a:rPr>
              <a:t>grout</a:t>
            </a:r>
            <a:r>
              <a:rPr lang="es-MX" sz="1100" dirty="0">
                <a:solidFill>
                  <a:schemeClr val="tx1"/>
                </a:solidFill>
              </a:rPr>
              <a:t> y pedestal de concreto</a:t>
            </a:r>
          </a:p>
        </p:txBody>
      </p:sp>
    </p:spTree>
    <p:extLst>
      <p:ext uri="{BB962C8B-B14F-4D97-AF65-F5344CB8AC3E}">
        <p14:creationId xmlns:p14="http://schemas.microsoft.com/office/powerpoint/2010/main" val="3164924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87059-DE76-E3C7-F445-8813B5BB0E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0A75CA9-470E-7A20-6720-ABFD7F4FBC6F}"/>
              </a:ext>
            </a:extLst>
          </p:cNvPr>
          <p:cNvSpPr>
            <a:spLocks noGrp="1"/>
          </p:cNvSpPr>
          <p:nvPr>
            <p:ph type="title"/>
          </p:nvPr>
        </p:nvSpPr>
        <p:spPr/>
        <p:txBody>
          <a:bodyPr/>
          <a:lstStyle/>
          <a:p>
            <a:r>
              <a:rPr lang="es-MX" dirty="0"/>
              <a:t>1. Introducción </a:t>
            </a:r>
          </a:p>
        </p:txBody>
      </p:sp>
      <p:sp>
        <p:nvSpPr>
          <p:cNvPr id="3" name="Marcador de texto 2">
            <a:extLst>
              <a:ext uri="{FF2B5EF4-FFF2-40B4-BE49-F238E27FC236}">
                <a16:creationId xmlns:a16="http://schemas.microsoft.com/office/drawing/2014/main" id="{8D360250-1F4D-01C2-5286-449D229D430D}"/>
              </a:ext>
            </a:extLst>
          </p:cNvPr>
          <p:cNvSpPr>
            <a:spLocks noGrp="1"/>
          </p:cNvSpPr>
          <p:nvPr>
            <p:ph type="body" sz="quarter" idx="10"/>
          </p:nvPr>
        </p:nvSpPr>
        <p:spPr>
          <a:xfrm>
            <a:off x="842948" y="1203598"/>
            <a:ext cx="7458104" cy="3394472"/>
          </a:xfrm>
        </p:spPr>
        <p:txBody>
          <a:bodyPr/>
          <a:lstStyle/>
          <a:p>
            <a:pPr algn="just"/>
            <a:r>
              <a:rPr lang="es-ES" dirty="0">
                <a:solidFill>
                  <a:schemeClr val="tx1"/>
                </a:solidFill>
              </a:rPr>
              <a:t>Las placas base y los sistemas de anclaje fungen como la interfaz fundamental encargada de transferir las elevadas fuerzas axiales, los esfuerzos cortantes basales y los momentos </a:t>
            </a:r>
            <a:r>
              <a:rPr lang="es-ES" dirty="0" err="1">
                <a:solidFill>
                  <a:schemeClr val="tx1"/>
                </a:solidFill>
              </a:rPr>
              <a:t>flexionantes</a:t>
            </a:r>
            <a:r>
              <a:rPr lang="es-ES" dirty="0">
                <a:solidFill>
                  <a:schemeClr val="tx1"/>
                </a:solidFill>
              </a:rPr>
              <a:t> generados en las columnas hacia los cimientos.</a:t>
            </a:r>
            <a:endParaRPr lang="es-MX" dirty="0">
              <a:solidFill>
                <a:schemeClr val="tx1"/>
              </a:solidFill>
            </a:endParaRPr>
          </a:p>
          <a:p>
            <a:pPr algn="just"/>
            <a:r>
              <a:rPr lang="es-ES" dirty="0">
                <a:solidFill>
                  <a:schemeClr val="tx1"/>
                </a:solidFill>
              </a:rPr>
              <a:t>La evolución del marco normativo en la Ciudad de México ha estado fuertemente condicionada por la actividad sísmica del territorio nacional. Este avance reglamentario surge también como una respuesta técnica ante las lecciones derivadas del sismo del 19 de septiembre de 2017.</a:t>
            </a:r>
            <a:endParaRPr lang="es-MX" dirty="0">
              <a:solidFill>
                <a:schemeClr val="tx1"/>
              </a:solidFill>
            </a:endParaRPr>
          </a:p>
        </p:txBody>
      </p:sp>
    </p:spTree>
    <p:extLst>
      <p:ext uri="{BB962C8B-B14F-4D97-AF65-F5344CB8AC3E}">
        <p14:creationId xmlns:p14="http://schemas.microsoft.com/office/powerpoint/2010/main" val="2019679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691F7-E6B9-65B5-BD0B-B86E171A89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B8AB3ED-D053-6A5B-6F9D-4DFB64525BA2}"/>
              </a:ext>
            </a:extLst>
          </p:cNvPr>
          <p:cNvSpPr>
            <a:spLocks noGrp="1"/>
          </p:cNvSpPr>
          <p:nvPr>
            <p:ph type="title"/>
          </p:nvPr>
        </p:nvSpPr>
        <p:spPr/>
        <p:txBody>
          <a:bodyPr/>
          <a:lstStyle/>
          <a:p>
            <a:r>
              <a:rPr lang="es-MX" dirty="0"/>
              <a:t>1.1 </a:t>
            </a:r>
            <a:r>
              <a:rPr lang="es-ES" dirty="0"/>
              <a:t>El Sismo del 19 de Septiembre de 2017 y la Evidencia Forense Estructural</a:t>
            </a:r>
            <a:endParaRPr lang="es-MX" dirty="0"/>
          </a:p>
        </p:txBody>
      </p:sp>
      <p:sp>
        <p:nvSpPr>
          <p:cNvPr id="3" name="Marcador de texto 2">
            <a:extLst>
              <a:ext uri="{FF2B5EF4-FFF2-40B4-BE49-F238E27FC236}">
                <a16:creationId xmlns:a16="http://schemas.microsoft.com/office/drawing/2014/main" id="{E59DE1C0-BECB-484B-6D2E-7DB510BB4A86}"/>
              </a:ext>
            </a:extLst>
          </p:cNvPr>
          <p:cNvSpPr>
            <a:spLocks noGrp="1"/>
          </p:cNvSpPr>
          <p:nvPr>
            <p:ph type="body" sz="quarter" idx="10"/>
          </p:nvPr>
        </p:nvSpPr>
        <p:spPr>
          <a:xfrm>
            <a:off x="683568" y="1275606"/>
            <a:ext cx="4449132" cy="3394472"/>
          </a:xfrm>
        </p:spPr>
        <p:txBody>
          <a:bodyPr/>
          <a:lstStyle/>
          <a:p>
            <a:pPr algn="just"/>
            <a:r>
              <a:rPr lang="es-ES" dirty="0">
                <a:solidFill>
                  <a:schemeClr val="tx1"/>
                </a:solidFill>
              </a:rPr>
              <a:t>México fue sacudido por un sismo de magnitud de momento 7.1, cuyo epicentro y cercanía con la capital. A diferencia del evento de 1985, este sismo fue de tipo </a:t>
            </a:r>
            <a:r>
              <a:rPr lang="es-ES" dirty="0" err="1">
                <a:solidFill>
                  <a:schemeClr val="tx1"/>
                </a:solidFill>
              </a:rPr>
              <a:t>intraplaca</a:t>
            </a:r>
            <a:r>
              <a:rPr lang="es-ES" dirty="0">
                <a:solidFill>
                  <a:schemeClr val="tx1"/>
                </a:solidFill>
              </a:rPr>
              <a:t> y con una distancia epicentral considerablemente menor respecto a la Ciudad de México.</a:t>
            </a:r>
          </a:p>
          <a:p>
            <a:pPr algn="just"/>
            <a:endParaRPr lang="es-MX" dirty="0">
              <a:solidFill>
                <a:schemeClr val="tx1"/>
              </a:solidFill>
            </a:endParaRPr>
          </a:p>
        </p:txBody>
      </p:sp>
      <p:pic>
        <p:nvPicPr>
          <p:cNvPr id="4" name="Imagen 3">
            <a:extLst>
              <a:ext uri="{FF2B5EF4-FFF2-40B4-BE49-F238E27FC236}">
                <a16:creationId xmlns:a16="http://schemas.microsoft.com/office/drawing/2014/main" id="{FC7167DE-FDA5-59A8-B759-74AE3C4FDD80}"/>
              </a:ext>
            </a:extLst>
          </p:cNvPr>
          <p:cNvPicPr>
            <a:picLocks noChangeAspect="1"/>
          </p:cNvPicPr>
          <p:nvPr/>
        </p:nvPicPr>
        <p:blipFill>
          <a:blip r:embed="rId2"/>
          <a:stretch>
            <a:fillRect/>
          </a:stretch>
        </p:blipFill>
        <p:spPr>
          <a:xfrm>
            <a:off x="5292080" y="1015211"/>
            <a:ext cx="3657917" cy="2469094"/>
          </a:xfrm>
          <a:prstGeom prst="rect">
            <a:avLst/>
          </a:prstGeom>
        </p:spPr>
      </p:pic>
      <p:sp>
        <p:nvSpPr>
          <p:cNvPr id="5" name="Marcador de contenido 1">
            <a:extLst>
              <a:ext uri="{FF2B5EF4-FFF2-40B4-BE49-F238E27FC236}">
                <a16:creationId xmlns:a16="http://schemas.microsoft.com/office/drawing/2014/main" id="{3E24E6F4-DFE9-B9D1-233E-6FC5A2C0699C}"/>
              </a:ext>
            </a:extLst>
          </p:cNvPr>
          <p:cNvSpPr txBox="1">
            <a:spLocks/>
          </p:cNvSpPr>
          <p:nvPr/>
        </p:nvSpPr>
        <p:spPr>
          <a:xfrm>
            <a:off x="5622159" y="3473473"/>
            <a:ext cx="3311236" cy="915758"/>
          </a:xfrm>
          <a:prstGeom prst="rect">
            <a:avLst/>
          </a:prstGeom>
        </p:spPr>
        <p:txBody>
          <a:bodyPr vert="horz" lIns="91440" tIns="45720" rIns="91440" bIns="45720" rtlCol="0">
            <a:noAutofit/>
          </a:bodyPr>
          <a:lstStyle>
            <a:lvl1pPr marL="0" indent="0" algn="l" defTabSz="298227" rtl="0" eaLnBrk="1" latinLnBrk="0" hangingPunct="1">
              <a:lnSpc>
                <a:spcPts val="2300"/>
              </a:lnSpc>
              <a:spcBef>
                <a:spcPct val="20000"/>
              </a:spcBef>
              <a:buFont typeface="Arial" panose="020B0604020202020204" pitchFamily="34" charset="0"/>
              <a:buNone/>
              <a:defRPr sz="1900" kern="1200">
                <a:solidFill>
                  <a:schemeClr val="tx1">
                    <a:lumMod val="50000"/>
                    <a:lumOff val="50000"/>
                  </a:schemeClr>
                </a:solidFill>
                <a:latin typeface="Gill Sans MT" panose="020B0502020104020203" pitchFamily="34" charset="0"/>
                <a:ea typeface="+mn-ea"/>
                <a:cs typeface="+mn-cs"/>
              </a:defRPr>
            </a:lvl1pPr>
            <a:lvl2pPr marL="242309" indent="-93196" algn="l" defTabSz="298227" rtl="0" eaLnBrk="1" latinLnBrk="0" hangingPunct="1">
              <a:spcBef>
                <a:spcPct val="20000"/>
              </a:spcBef>
              <a:buFont typeface="Arial" panose="020B0604020202020204" pitchFamily="34" charset="0"/>
              <a:buChar char="–"/>
              <a:defRPr sz="913" kern="1200">
                <a:solidFill>
                  <a:schemeClr val="tx1"/>
                </a:solidFill>
                <a:latin typeface="+mn-lt"/>
                <a:ea typeface="+mn-ea"/>
                <a:cs typeface="+mn-cs"/>
              </a:defRPr>
            </a:lvl2pPr>
            <a:lvl3pPr marL="372784" indent="-74557" algn="l" defTabSz="298227" rtl="0" eaLnBrk="1" latinLnBrk="0" hangingPunct="1">
              <a:spcBef>
                <a:spcPct val="20000"/>
              </a:spcBef>
              <a:buFont typeface="Arial" panose="020B0604020202020204" pitchFamily="34" charset="0"/>
              <a:buChar char="•"/>
              <a:defRPr sz="783" kern="1200">
                <a:solidFill>
                  <a:schemeClr val="tx1"/>
                </a:solidFill>
                <a:latin typeface="+mn-lt"/>
                <a:ea typeface="+mn-ea"/>
                <a:cs typeface="+mn-cs"/>
              </a:defRPr>
            </a:lvl3pPr>
            <a:lvl4pPr marL="521899"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4pPr>
            <a:lvl5pPr marL="67101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5pPr>
            <a:lvl6pPr marL="82012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6pPr>
            <a:lvl7pPr marL="969238"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7pPr>
            <a:lvl8pPr marL="111835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8pPr>
            <a:lvl9pPr marL="126746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9pPr>
          </a:lstStyle>
          <a:p>
            <a:pPr algn="just"/>
            <a:r>
              <a:rPr lang="es-ES" sz="1100" b="1" dirty="0">
                <a:solidFill>
                  <a:schemeClr val="tx1"/>
                </a:solidFill>
              </a:rPr>
              <a:t>Figura 1.2. </a:t>
            </a:r>
            <a:r>
              <a:rPr lang="es-ES" sz="1100" dirty="0">
                <a:solidFill>
                  <a:schemeClr val="tx1"/>
                </a:solidFill>
              </a:rPr>
              <a:t>Mapa de la República Mexicana señalando el epicentro del sismo del 19-S 2017 y la Ciudad de México.</a:t>
            </a:r>
            <a:endParaRPr lang="es-MX" sz="1100" dirty="0">
              <a:solidFill>
                <a:schemeClr val="tx1"/>
              </a:solidFill>
            </a:endParaRPr>
          </a:p>
        </p:txBody>
      </p:sp>
    </p:spTree>
    <p:extLst>
      <p:ext uri="{BB962C8B-B14F-4D97-AF65-F5344CB8AC3E}">
        <p14:creationId xmlns:p14="http://schemas.microsoft.com/office/powerpoint/2010/main" val="4059210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19CD6-D0EF-7D24-3663-AA62595EAA3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AD34B4B-733C-1EE3-4384-A69EE0AC9A6F}"/>
              </a:ext>
            </a:extLst>
          </p:cNvPr>
          <p:cNvSpPr>
            <a:spLocks noGrp="1"/>
          </p:cNvSpPr>
          <p:nvPr>
            <p:ph type="title"/>
          </p:nvPr>
        </p:nvSpPr>
        <p:spPr/>
        <p:txBody>
          <a:bodyPr/>
          <a:lstStyle/>
          <a:p>
            <a:r>
              <a:rPr lang="es-ES" dirty="0"/>
              <a:t>1.1.1	Patrones de falla estructural</a:t>
            </a:r>
            <a:endParaRPr lang="es-MX" dirty="0"/>
          </a:p>
        </p:txBody>
      </p:sp>
      <p:sp>
        <p:nvSpPr>
          <p:cNvPr id="3" name="Marcador de texto 2">
            <a:extLst>
              <a:ext uri="{FF2B5EF4-FFF2-40B4-BE49-F238E27FC236}">
                <a16:creationId xmlns:a16="http://schemas.microsoft.com/office/drawing/2014/main" id="{26986D25-03C5-10B0-9854-146614275D94}"/>
              </a:ext>
            </a:extLst>
          </p:cNvPr>
          <p:cNvSpPr>
            <a:spLocks noGrp="1"/>
          </p:cNvSpPr>
          <p:nvPr>
            <p:ph type="body" sz="quarter" idx="10"/>
          </p:nvPr>
        </p:nvSpPr>
        <p:spPr>
          <a:xfrm>
            <a:off x="842948" y="1203598"/>
            <a:ext cx="7458104" cy="3394472"/>
          </a:xfrm>
        </p:spPr>
        <p:txBody>
          <a:bodyPr/>
          <a:lstStyle/>
          <a:p>
            <a:pPr algn="just"/>
            <a:r>
              <a:rPr lang="es-ES" dirty="0">
                <a:solidFill>
                  <a:schemeClr val="tx1"/>
                </a:solidFill>
              </a:rPr>
              <a:t>Las evaluaciones </a:t>
            </a:r>
            <a:r>
              <a:rPr lang="es-ES" dirty="0" err="1">
                <a:solidFill>
                  <a:schemeClr val="tx1"/>
                </a:solidFill>
              </a:rPr>
              <a:t>post-sismo</a:t>
            </a:r>
            <a:r>
              <a:rPr lang="es-ES" dirty="0">
                <a:solidFill>
                  <a:schemeClr val="tx1"/>
                </a:solidFill>
              </a:rPr>
              <a:t> identificaron diversos mecanismos de falla en conexiones estructurales:</a:t>
            </a:r>
          </a:p>
          <a:p>
            <a:pPr algn="just"/>
            <a:r>
              <a:rPr lang="es-ES" dirty="0">
                <a:solidFill>
                  <a:schemeClr val="tx1"/>
                </a:solidFill>
              </a:rPr>
              <a:t>	•	Fluencia excesiva en placas base, asociada a simplificaciones en el 	modelo de presión de contacto.</a:t>
            </a:r>
          </a:p>
          <a:p>
            <a:pPr algn="just"/>
            <a:r>
              <a:rPr lang="es-ES" dirty="0">
                <a:solidFill>
                  <a:schemeClr val="tx1"/>
                </a:solidFill>
              </a:rPr>
              <a:t>	•	Arrancamiento de anclajes, provocado por fallas de cono de 	concreto.</a:t>
            </a:r>
          </a:p>
          <a:p>
            <a:pPr algn="just"/>
            <a:r>
              <a:rPr lang="es-ES" dirty="0">
                <a:solidFill>
                  <a:schemeClr val="tx1"/>
                </a:solidFill>
              </a:rPr>
              <a:t>	•	Deficiencias en transferencia de cortante basal, cuando el sistema 	dependía únicamente de los pernos de anclaje.</a:t>
            </a:r>
          </a:p>
        </p:txBody>
      </p:sp>
    </p:spTree>
    <p:extLst>
      <p:ext uri="{BB962C8B-B14F-4D97-AF65-F5344CB8AC3E}">
        <p14:creationId xmlns:p14="http://schemas.microsoft.com/office/powerpoint/2010/main" val="4145235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EC2EB-7FCA-DA87-2ED2-EF54D497A50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9AEF468-C6E0-6363-2429-1FF4760BA8F4}"/>
              </a:ext>
            </a:extLst>
          </p:cNvPr>
          <p:cNvSpPr>
            <a:spLocks noGrp="1"/>
          </p:cNvSpPr>
          <p:nvPr>
            <p:ph type="title"/>
          </p:nvPr>
        </p:nvSpPr>
        <p:spPr>
          <a:xfrm>
            <a:off x="457202" y="685219"/>
            <a:ext cx="8229600" cy="590863"/>
          </a:xfrm>
        </p:spPr>
        <p:txBody>
          <a:bodyPr/>
          <a:lstStyle/>
          <a:p>
            <a:r>
              <a:rPr lang="es-ES" dirty="0"/>
              <a:t>1.2 Distribución lineal de presiones</a:t>
            </a:r>
            <a:endParaRPr lang="es-MX" dirty="0"/>
          </a:p>
        </p:txBody>
      </p:sp>
      <p:sp>
        <p:nvSpPr>
          <p:cNvPr id="5" name="CuadroTexto 4">
            <a:extLst>
              <a:ext uri="{FF2B5EF4-FFF2-40B4-BE49-F238E27FC236}">
                <a16:creationId xmlns:a16="http://schemas.microsoft.com/office/drawing/2014/main" id="{280C425D-44F0-712A-B4E3-9ABE0F0EDC95}"/>
              </a:ext>
            </a:extLst>
          </p:cNvPr>
          <p:cNvSpPr txBox="1"/>
          <p:nvPr/>
        </p:nvSpPr>
        <p:spPr>
          <a:xfrm>
            <a:off x="4481014" y="1276082"/>
            <a:ext cx="4205788" cy="3600986"/>
          </a:xfrm>
          <a:prstGeom prst="rect">
            <a:avLst/>
          </a:prstGeom>
          <a:noFill/>
        </p:spPr>
        <p:txBody>
          <a:bodyPr wrap="square" rtlCol="0">
            <a:spAutoFit/>
          </a:bodyPr>
          <a:lstStyle/>
          <a:p>
            <a:pPr algn="just"/>
            <a:r>
              <a:rPr lang="es-ES" sz="1900" dirty="0">
                <a:latin typeface="Gill Sans MT" panose="020B0502020104020203" pitchFamily="34" charset="0"/>
              </a:rPr>
              <a:t>El método clásico asumía que la placa base era rígida y que las presiones en el concreto podían modelarse mediante una distribución lineal de esfuerzos.</a:t>
            </a:r>
          </a:p>
          <a:p>
            <a:pPr algn="just"/>
            <a:endParaRPr lang="es-ES" sz="1900" dirty="0">
              <a:latin typeface="Gill Sans MT" panose="020B0502020104020203" pitchFamily="34" charset="0"/>
            </a:endParaRPr>
          </a:p>
          <a:p>
            <a:pPr algn="just"/>
            <a:r>
              <a:rPr lang="es-ES" sz="1900" dirty="0">
                <a:latin typeface="Gill Sans MT" panose="020B0502020104020203" pitchFamily="34" charset="0"/>
              </a:rPr>
              <a:t>Investigaciones posteriores demostraron que la flexibilidad real de la placa puede generar redistribuciones importantes de esfuerzos, incrementando la demanda en los anclajes mediante un fenómeno conocido como efecto de palanca o </a:t>
            </a:r>
            <a:r>
              <a:rPr lang="es-ES" sz="1900" dirty="0" err="1">
                <a:latin typeface="Gill Sans MT" panose="020B0502020104020203" pitchFamily="34" charset="0"/>
              </a:rPr>
              <a:t>prying</a:t>
            </a:r>
            <a:r>
              <a:rPr lang="es-ES" sz="1900" dirty="0">
                <a:latin typeface="Gill Sans MT" panose="020B0502020104020203" pitchFamily="34" charset="0"/>
              </a:rPr>
              <a:t> </a:t>
            </a:r>
            <a:r>
              <a:rPr lang="es-ES" sz="1900" dirty="0" err="1">
                <a:latin typeface="Gill Sans MT" panose="020B0502020104020203" pitchFamily="34" charset="0"/>
              </a:rPr>
              <a:t>action</a:t>
            </a:r>
            <a:endParaRPr lang="es-ES" sz="1900" dirty="0">
              <a:latin typeface="Gill Sans MT" panose="020B0502020104020203" pitchFamily="34" charset="0"/>
            </a:endParaRPr>
          </a:p>
        </p:txBody>
      </p:sp>
      <p:pic>
        <p:nvPicPr>
          <p:cNvPr id="3" name="Imagen 2">
            <a:extLst>
              <a:ext uri="{FF2B5EF4-FFF2-40B4-BE49-F238E27FC236}">
                <a16:creationId xmlns:a16="http://schemas.microsoft.com/office/drawing/2014/main" id="{D3A09D60-3EA0-2D93-7EEC-5798E7A6F7A9}"/>
              </a:ext>
            </a:extLst>
          </p:cNvPr>
          <p:cNvPicPr>
            <a:picLocks noChangeAspect="1"/>
          </p:cNvPicPr>
          <p:nvPr/>
        </p:nvPicPr>
        <p:blipFill>
          <a:blip r:embed="rId2"/>
          <a:stretch>
            <a:fillRect/>
          </a:stretch>
        </p:blipFill>
        <p:spPr>
          <a:xfrm>
            <a:off x="818102" y="1229248"/>
            <a:ext cx="3042168" cy="2566638"/>
          </a:xfrm>
          <a:prstGeom prst="rect">
            <a:avLst/>
          </a:prstGeom>
        </p:spPr>
      </p:pic>
      <p:sp>
        <p:nvSpPr>
          <p:cNvPr id="4" name="Marcador de contenido 1">
            <a:extLst>
              <a:ext uri="{FF2B5EF4-FFF2-40B4-BE49-F238E27FC236}">
                <a16:creationId xmlns:a16="http://schemas.microsoft.com/office/drawing/2014/main" id="{E3E1233A-7EB1-9976-E8D7-43E0460A35F1}"/>
              </a:ext>
            </a:extLst>
          </p:cNvPr>
          <p:cNvSpPr txBox="1">
            <a:spLocks/>
          </p:cNvSpPr>
          <p:nvPr/>
        </p:nvSpPr>
        <p:spPr>
          <a:xfrm>
            <a:off x="683568" y="3795886"/>
            <a:ext cx="3311236" cy="915758"/>
          </a:xfrm>
          <a:prstGeom prst="rect">
            <a:avLst/>
          </a:prstGeom>
        </p:spPr>
        <p:txBody>
          <a:bodyPr vert="horz" lIns="91440" tIns="45720" rIns="91440" bIns="45720" rtlCol="0">
            <a:noAutofit/>
          </a:bodyPr>
          <a:lstStyle>
            <a:lvl1pPr marL="0" indent="0" algn="l" defTabSz="298227" rtl="0" eaLnBrk="1" latinLnBrk="0" hangingPunct="1">
              <a:lnSpc>
                <a:spcPts val="2300"/>
              </a:lnSpc>
              <a:spcBef>
                <a:spcPct val="20000"/>
              </a:spcBef>
              <a:buFont typeface="Arial" panose="020B0604020202020204" pitchFamily="34" charset="0"/>
              <a:buNone/>
              <a:defRPr sz="1900" kern="1200">
                <a:solidFill>
                  <a:schemeClr val="tx1">
                    <a:lumMod val="50000"/>
                    <a:lumOff val="50000"/>
                  </a:schemeClr>
                </a:solidFill>
                <a:latin typeface="Gill Sans MT" panose="020B0502020104020203" pitchFamily="34" charset="0"/>
                <a:ea typeface="+mn-ea"/>
                <a:cs typeface="+mn-cs"/>
              </a:defRPr>
            </a:lvl1pPr>
            <a:lvl2pPr marL="242309" indent="-93196" algn="l" defTabSz="298227" rtl="0" eaLnBrk="1" latinLnBrk="0" hangingPunct="1">
              <a:spcBef>
                <a:spcPct val="20000"/>
              </a:spcBef>
              <a:buFont typeface="Arial" panose="020B0604020202020204" pitchFamily="34" charset="0"/>
              <a:buChar char="–"/>
              <a:defRPr sz="913" kern="1200">
                <a:solidFill>
                  <a:schemeClr val="tx1"/>
                </a:solidFill>
                <a:latin typeface="+mn-lt"/>
                <a:ea typeface="+mn-ea"/>
                <a:cs typeface="+mn-cs"/>
              </a:defRPr>
            </a:lvl2pPr>
            <a:lvl3pPr marL="372784" indent="-74557" algn="l" defTabSz="298227" rtl="0" eaLnBrk="1" latinLnBrk="0" hangingPunct="1">
              <a:spcBef>
                <a:spcPct val="20000"/>
              </a:spcBef>
              <a:buFont typeface="Arial" panose="020B0604020202020204" pitchFamily="34" charset="0"/>
              <a:buChar char="•"/>
              <a:defRPr sz="783" kern="1200">
                <a:solidFill>
                  <a:schemeClr val="tx1"/>
                </a:solidFill>
                <a:latin typeface="+mn-lt"/>
                <a:ea typeface="+mn-ea"/>
                <a:cs typeface="+mn-cs"/>
              </a:defRPr>
            </a:lvl3pPr>
            <a:lvl4pPr marL="521899"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4pPr>
            <a:lvl5pPr marL="67101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5pPr>
            <a:lvl6pPr marL="82012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6pPr>
            <a:lvl7pPr marL="969238"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7pPr>
            <a:lvl8pPr marL="111835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8pPr>
            <a:lvl9pPr marL="126746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9pPr>
          </a:lstStyle>
          <a:p>
            <a:pPr algn="just"/>
            <a:r>
              <a:rPr lang="es-ES" sz="1100" b="1" dirty="0">
                <a:solidFill>
                  <a:schemeClr val="tx1"/>
                </a:solidFill>
              </a:rPr>
              <a:t>Figura 1.3. </a:t>
            </a:r>
            <a:r>
              <a:rPr lang="es-ES" sz="1100" dirty="0">
                <a:solidFill>
                  <a:schemeClr val="tx1"/>
                </a:solidFill>
              </a:rPr>
              <a:t>Diagrama de distribución lineal de presiones en placa base.</a:t>
            </a:r>
            <a:endParaRPr lang="es-MX" sz="1100" dirty="0">
              <a:solidFill>
                <a:schemeClr val="tx1"/>
              </a:solidFill>
            </a:endParaRPr>
          </a:p>
        </p:txBody>
      </p:sp>
    </p:spTree>
    <p:extLst>
      <p:ext uri="{BB962C8B-B14F-4D97-AF65-F5344CB8AC3E}">
        <p14:creationId xmlns:p14="http://schemas.microsoft.com/office/powerpoint/2010/main" val="1894772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40177-B660-82C6-AF19-723ADDBFC8C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C623BC9-E9C2-0D34-71D1-BE34B1D59364}"/>
              </a:ext>
            </a:extLst>
          </p:cNvPr>
          <p:cNvSpPr>
            <a:spLocks noGrp="1"/>
          </p:cNvSpPr>
          <p:nvPr>
            <p:ph type="title"/>
          </p:nvPr>
        </p:nvSpPr>
        <p:spPr>
          <a:xfrm>
            <a:off x="457202" y="685219"/>
            <a:ext cx="8229600" cy="590863"/>
          </a:xfrm>
        </p:spPr>
        <p:txBody>
          <a:bodyPr/>
          <a:lstStyle/>
          <a:p>
            <a:r>
              <a:rPr lang="es-ES" dirty="0"/>
              <a:t>1.3 El efecto de palanca (</a:t>
            </a:r>
            <a:r>
              <a:rPr lang="es-ES" dirty="0" err="1"/>
              <a:t>prying</a:t>
            </a:r>
            <a:r>
              <a:rPr lang="es-ES" dirty="0"/>
              <a:t> </a:t>
            </a:r>
            <a:r>
              <a:rPr lang="es-ES" dirty="0" err="1"/>
              <a:t>action</a:t>
            </a:r>
            <a:r>
              <a:rPr lang="es-ES" dirty="0"/>
              <a:t>)</a:t>
            </a:r>
            <a:endParaRPr lang="es-MX" dirty="0"/>
          </a:p>
        </p:txBody>
      </p:sp>
      <p:sp>
        <p:nvSpPr>
          <p:cNvPr id="5" name="CuadroTexto 4">
            <a:extLst>
              <a:ext uri="{FF2B5EF4-FFF2-40B4-BE49-F238E27FC236}">
                <a16:creationId xmlns:a16="http://schemas.microsoft.com/office/drawing/2014/main" id="{B7791B41-73D2-8952-0E90-92E0CAC894DD}"/>
              </a:ext>
            </a:extLst>
          </p:cNvPr>
          <p:cNvSpPr txBox="1"/>
          <p:nvPr/>
        </p:nvSpPr>
        <p:spPr>
          <a:xfrm>
            <a:off x="4481014" y="1276082"/>
            <a:ext cx="4205788" cy="3600986"/>
          </a:xfrm>
          <a:prstGeom prst="rect">
            <a:avLst/>
          </a:prstGeom>
          <a:noFill/>
        </p:spPr>
        <p:txBody>
          <a:bodyPr wrap="square" rtlCol="0">
            <a:spAutoFit/>
          </a:bodyPr>
          <a:lstStyle/>
          <a:p>
            <a:pPr algn="just"/>
            <a:r>
              <a:rPr lang="es-ES" sz="1900" dirty="0">
                <a:latin typeface="Gill Sans MT" panose="020B0502020104020203" pitchFamily="34" charset="0"/>
              </a:rPr>
              <a:t>El modelo de placa rígida no contemplaba que la flexibilidad real de la placa puede generar deformaciones locales que incrementan la fuerza demandada a los pernos de anclaje.</a:t>
            </a:r>
          </a:p>
          <a:p>
            <a:pPr algn="just"/>
            <a:endParaRPr lang="es-ES" sz="1900" dirty="0">
              <a:latin typeface="Gill Sans MT" panose="020B0502020104020203" pitchFamily="34" charset="0"/>
            </a:endParaRPr>
          </a:p>
          <a:p>
            <a:pPr algn="just"/>
            <a:r>
              <a:rPr lang="es-ES" sz="1900" dirty="0">
                <a:latin typeface="Gill Sans MT" panose="020B0502020104020203" pitchFamily="34" charset="0"/>
              </a:rPr>
              <a:t>Este fenómeno, fue identificado como uno de los factores que contribuyó a fallas en anclajes durante el sismo de 2017 y constituyó un fundamento técnico para la actualización normativa </a:t>
            </a:r>
          </a:p>
          <a:p>
            <a:pPr algn="just"/>
            <a:endParaRPr lang="es-ES" sz="1900" dirty="0">
              <a:latin typeface="Gill Sans MT" panose="020B0502020104020203" pitchFamily="34" charset="0"/>
            </a:endParaRPr>
          </a:p>
        </p:txBody>
      </p:sp>
      <p:sp>
        <p:nvSpPr>
          <p:cNvPr id="11" name="Marcador de contenido 1">
            <a:extLst>
              <a:ext uri="{FF2B5EF4-FFF2-40B4-BE49-F238E27FC236}">
                <a16:creationId xmlns:a16="http://schemas.microsoft.com/office/drawing/2014/main" id="{CF1E8AF8-067C-1C01-65B3-110B54E24F1A}"/>
              </a:ext>
            </a:extLst>
          </p:cNvPr>
          <p:cNvSpPr txBox="1">
            <a:spLocks/>
          </p:cNvSpPr>
          <p:nvPr/>
        </p:nvSpPr>
        <p:spPr>
          <a:xfrm>
            <a:off x="683568" y="3795886"/>
            <a:ext cx="3311236" cy="915758"/>
          </a:xfrm>
          <a:prstGeom prst="rect">
            <a:avLst/>
          </a:prstGeom>
        </p:spPr>
        <p:txBody>
          <a:bodyPr vert="horz" lIns="91440" tIns="45720" rIns="91440" bIns="45720" rtlCol="0">
            <a:noAutofit/>
          </a:bodyPr>
          <a:lstStyle>
            <a:lvl1pPr marL="0" indent="0" algn="l" defTabSz="298227" rtl="0" eaLnBrk="1" latinLnBrk="0" hangingPunct="1">
              <a:lnSpc>
                <a:spcPts val="2300"/>
              </a:lnSpc>
              <a:spcBef>
                <a:spcPct val="20000"/>
              </a:spcBef>
              <a:buFont typeface="Arial" panose="020B0604020202020204" pitchFamily="34" charset="0"/>
              <a:buNone/>
              <a:defRPr sz="1900" kern="1200">
                <a:solidFill>
                  <a:schemeClr val="tx1">
                    <a:lumMod val="50000"/>
                    <a:lumOff val="50000"/>
                  </a:schemeClr>
                </a:solidFill>
                <a:latin typeface="Gill Sans MT" panose="020B0502020104020203" pitchFamily="34" charset="0"/>
                <a:ea typeface="+mn-ea"/>
                <a:cs typeface="+mn-cs"/>
              </a:defRPr>
            </a:lvl1pPr>
            <a:lvl2pPr marL="242309" indent="-93196" algn="l" defTabSz="298227" rtl="0" eaLnBrk="1" latinLnBrk="0" hangingPunct="1">
              <a:spcBef>
                <a:spcPct val="20000"/>
              </a:spcBef>
              <a:buFont typeface="Arial" panose="020B0604020202020204" pitchFamily="34" charset="0"/>
              <a:buChar char="–"/>
              <a:defRPr sz="913" kern="1200">
                <a:solidFill>
                  <a:schemeClr val="tx1"/>
                </a:solidFill>
                <a:latin typeface="+mn-lt"/>
                <a:ea typeface="+mn-ea"/>
                <a:cs typeface="+mn-cs"/>
              </a:defRPr>
            </a:lvl2pPr>
            <a:lvl3pPr marL="372784" indent="-74557" algn="l" defTabSz="298227" rtl="0" eaLnBrk="1" latinLnBrk="0" hangingPunct="1">
              <a:spcBef>
                <a:spcPct val="20000"/>
              </a:spcBef>
              <a:buFont typeface="Arial" panose="020B0604020202020204" pitchFamily="34" charset="0"/>
              <a:buChar char="•"/>
              <a:defRPr sz="783" kern="1200">
                <a:solidFill>
                  <a:schemeClr val="tx1"/>
                </a:solidFill>
                <a:latin typeface="+mn-lt"/>
                <a:ea typeface="+mn-ea"/>
                <a:cs typeface="+mn-cs"/>
              </a:defRPr>
            </a:lvl3pPr>
            <a:lvl4pPr marL="521899"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4pPr>
            <a:lvl5pPr marL="67101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5pPr>
            <a:lvl6pPr marL="82012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6pPr>
            <a:lvl7pPr marL="969238"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7pPr>
            <a:lvl8pPr marL="111835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8pPr>
            <a:lvl9pPr marL="126746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9pPr>
          </a:lstStyle>
          <a:p>
            <a:pPr algn="just"/>
            <a:r>
              <a:rPr lang="es-ES" sz="1100" b="1" dirty="0">
                <a:solidFill>
                  <a:schemeClr val="tx1"/>
                </a:solidFill>
              </a:rPr>
              <a:t>Figura 1.4. </a:t>
            </a:r>
            <a:r>
              <a:rPr lang="es-ES" sz="1100" dirty="0">
                <a:solidFill>
                  <a:schemeClr val="tx1"/>
                </a:solidFill>
              </a:rPr>
              <a:t>Diagrama esquemático del efecto </a:t>
            </a:r>
            <a:r>
              <a:rPr lang="es-ES" sz="1100" dirty="0" err="1">
                <a:solidFill>
                  <a:schemeClr val="tx1"/>
                </a:solidFill>
              </a:rPr>
              <a:t>prying</a:t>
            </a:r>
            <a:r>
              <a:rPr lang="es-ES" sz="1100" dirty="0">
                <a:solidFill>
                  <a:schemeClr val="tx1"/>
                </a:solidFill>
              </a:rPr>
              <a:t> </a:t>
            </a:r>
            <a:r>
              <a:rPr lang="es-ES" sz="1100" dirty="0" err="1">
                <a:solidFill>
                  <a:schemeClr val="tx1"/>
                </a:solidFill>
              </a:rPr>
              <a:t>action</a:t>
            </a:r>
            <a:r>
              <a:rPr lang="es-ES" sz="1100" dirty="0">
                <a:solidFill>
                  <a:schemeClr val="tx1"/>
                </a:solidFill>
              </a:rPr>
              <a:t>: placa deformada.</a:t>
            </a:r>
            <a:endParaRPr lang="es-MX" sz="1100" dirty="0">
              <a:solidFill>
                <a:schemeClr val="tx1"/>
              </a:solidFill>
            </a:endParaRPr>
          </a:p>
        </p:txBody>
      </p:sp>
      <p:pic>
        <p:nvPicPr>
          <p:cNvPr id="6" name="Imagen 5">
            <a:extLst>
              <a:ext uri="{FF2B5EF4-FFF2-40B4-BE49-F238E27FC236}">
                <a16:creationId xmlns:a16="http://schemas.microsoft.com/office/drawing/2014/main" id="{B6F84C86-53F2-2EFA-177B-F82F5F3BB87E}"/>
              </a:ext>
            </a:extLst>
          </p:cNvPr>
          <p:cNvPicPr>
            <a:picLocks noChangeAspect="1"/>
          </p:cNvPicPr>
          <p:nvPr/>
        </p:nvPicPr>
        <p:blipFill>
          <a:blip r:embed="rId2"/>
          <a:stretch>
            <a:fillRect/>
          </a:stretch>
        </p:blipFill>
        <p:spPr>
          <a:xfrm>
            <a:off x="853528" y="1182180"/>
            <a:ext cx="3231160" cy="2639797"/>
          </a:xfrm>
          <a:prstGeom prst="rect">
            <a:avLst/>
          </a:prstGeom>
        </p:spPr>
      </p:pic>
    </p:spTree>
    <p:extLst>
      <p:ext uri="{BB962C8B-B14F-4D97-AF65-F5344CB8AC3E}">
        <p14:creationId xmlns:p14="http://schemas.microsoft.com/office/powerpoint/2010/main" val="1543138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9AB9B-F75F-4561-95DD-72082902C6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4C1A4DA-4C4A-F8B7-78CC-78BE7D7E4746}"/>
              </a:ext>
            </a:extLst>
          </p:cNvPr>
          <p:cNvSpPr>
            <a:spLocks noGrp="1"/>
          </p:cNvSpPr>
          <p:nvPr>
            <p:ph type="title"/>
          </p:nvPr>
        </p:nvSpPr>
        <p:spPr/>
        <p:txBody>
          <a:bodyPr/>
          <a:lstStyle/>
          <a:p>
            <a:r>
              <a:rPr lang="es-ES" dirty="0"/>
              <a:t>1.4	Estados límite de falla en anclajes</a:t>
            </a:r>
            <a:endParaRPr lang="es-MX" dirty="0"/>
          </a:p>
        </p:txBody>
      </p:sp>
      <p:sp>
        <p:nvSpPr>
          <p:cNvPr id="5" name="CuadroTexto 4">
            <a:extLst>
              <a:ext uri="{FF2B5EF4-FFF2-40B4-BE49-F238E27FC236}">
                <a16:creationId xmlns:a16="http://schemas.microsoft.com/office/drawing/2014/main" id="{B92E1291-6DE9-CB29-F765-BCB9FB3B9752}"/>
              </a:ext>
            </a:extLst>
          </p:cNvPr>
          <p:cNvSpPr txBox="1"/>
          <p:nvPr/>
        </p:nvSpPr>
        <p:spPr>
          <a:xfrm>
            <a:off x="827584" y="1347614"/>
            <a:ext cx="3960440" cy="3308598"/>
          </a:xfrm>
          <a:prstGeom prst="rect">
            <a:avLst/>
          </a:prstGeom>
          <a:noFill/>
        </p:spPr>
        <p:txBody>
          <a:bodyPr wrap="square" rtlCol="0">
            <a:spAutoFit/>
          </a:bodyPr>
          <a:lstStyle/>
          <a:p>
            <a:pPr algn="just"/>
            <a:r>
              <a:rPr lang="es-ES" sz="1900" dirty="0">
                <a:latin typeface="Gill Sans MT" panose="020B0502020104020203" pitchFamily="34" charset="0"/>
              </a:rPr>
              <a:t>•</a:t>
            </a:r>
            <a:r>
              <a:rPr lang="es-ES" sz="1900" b="1" dirty="0">
                <a:latin typeface="Gill Sans MT" panose="020B0502020104020203" pitchFamily="34" charset="0"/>
              </a:rPr>
              <a:t>Aplastamiento del concreto: </a:t>
            </a:r>
            <a:r>
              <a:rPr lang="es-ES" sz="1900" dirty="0">
                <a:latin typeface="Gill Sans MT" panose="020B0502020104020203" pitchFamily="34" charset="0"/>
              </a:rPr>
              <a:t>la presión de contacto bajo el perno supera la resistencia del concreto confinado.</a:t>
            </a:r>
          </a:p>
          <a:p>
            <a:pPr algn="just"/>
            <a:r>
              <a:rPr lang="es-ES" sz="1900" dirty="0">
                <a:latin typeface="Gill Sans MT" panose="020B0502020104020203" pitchFamily="34" charset="0"/>
              </a:rPr>
              <a:t>•</a:t>
            </a:r>
            <a:r>
              <a:rPr lang="es-ES" sz="1900" b="1" dirty="0">
                <a:latin typeface="Gill Sans MT" panose="020B0502020104020203" pitchFamily="34" charset="0"/>
              </a:rPr>
              <a:t>Ruptura por cono de concreto (</a:t>
            </a:r>
            <a:r>
              <a:rPr lang="es-ES" sz="1900" b="1" dirty="0" err="1">
                <a:latin typeface="Gill Sans MT" panose="020B0502020104020203" pitchFamily="34" charset="0"/>
              </a:rPr>
              <a:t>breakout</a:t>
            </a:r>
            <a:r>
              <a:rPr lang="es-ES" sz="1900" b="1" dirty="0">
                <a:latin typeface="Gill Sans MT" panose="020B0502020104020203" pitchFamily="34" charset="0"/>
              </a:rPr>
              <a:t>): </a:t>
            </a:r>
            <a:r>
              <a:rPr lang="es-ES" sz="1900" dirty="0">
                <a:latin typeface="Gill Sans MT" panose="020B0502020104020203" pitchFamily="34" charset="0"/>
              </a:rPr>
              <a:t>el anclaje arranca un cono de concreto alrededor de su eje longitudinal.</a:t>
            </a:r>
          </a:p>
          <a:p>
            <a:pPr algn="just"/>
            <a:r>
              <a:rPr lang="es-ES" sz="1900" dirty="0">
                <a:latin typeface="Gill Sans MT" panose="020B0502020104020203" pitchFamily="34" charset="0"/>
              </a:rPr>
              <a:t>•</a:t>
            </a:r>
            <a:r>
              <a:rPr lang="es-ES" sz="1900" b="1" dirty="0">
                <a:latin typeface="Gill Sans MT" panose="020B0502020104020203" pitchFamily="34" charset="0"/>
              </a:rPr>
              <a:t>Extracción del anclaje (</a:t>
            </a:r>
            <a:r>
              <a:rPr lang="es-ES" sz="1900" b="1" dirty="0" err="1">
                <a:latin typeface="Gill Sans MT" panose="020B0502020104020203" pitchFamily="34" charset="0"/>
              </a:rPr>
              <a:t>pull-out</a:t>
            </a:r>
            <a:r>
              <a:rPr lang="es-ES" sz="1900" b="1" dirty="0">
                <a:latin typeface="Gill Sans MT" panose="020B0502020104020203" pitchFamily="34" charset="0"/>
              </a:rPr>
              <a:t>): </a:t>
            </a:r>
            <a:r>
              <a:rPr lang="es-ES" sz="1900" dirty="0">
                <a:latin typeface="Gill Sans MT" panose="020B0502020104020203" pitchFamily="34" charset="0"/>
              </a:rPr>
              <a:t>falla de adherencia entre el perno y el concreto sin formación de cono.</a:t>
            </a:r>
          </a:p>
        </p:txBody>
      </p:sp>
      <p:sp>
        <p:nvSpPr>
          <p:cNvPr id="11" name="Marcador de contenido 1">
            <a:extLst>
              <a:ext uri="{FF2B5EF4-FFF2-40B4-BE49-F238E27FC236}">
                <a16:creationId xmlns:a16="http://schemas.microsoft.com/office/drawing/2014/main" id="{74E78CED-9772-36EB-1CEC-BAE2BE0A7E10}"/>
              </a:ext>
            </a:extLst>
          </p:cNvPr>
          <p:cNvSpPr txBox="1">
            <a:spLocks/>
          </p:cNvSpPr>
          <p:nvPr/>
        </p:nvSpPr>
        <p:spPr>
          <a:xfrm>
            <a:off x="5796136" y="3672288"/>
            <a:ext cx="2160240" cy="915758"/>
          </a:xfrm>
          <a:prstGeom prst="rect">
            <a:avLst/>
          </a:prstGeom>
        </p:spPr>
        <p:txBody>
          <a:bodyPr vert="horz" lIns="91440" tIns="45720" rIns="91440" bIns="45720" rtlCol="0">
            <a:noAutofit/>
          </a:bodyPr>
          <a:lstStyle>
            <a:lvl1pPr marL="0" indent="0" algn="l" defTabSz="298227" rtl="0" eaLnBrk="1" latinLnBrk="0" hangingPunct="1">
              <a:lnSpc>
                <a:spcPts val="2300"/>
              </a:lnSpc>
              <a:spcBef>
                <a:spcPct val="20000"/>
              </a:spcBef>
              <a:buFont typeface="Arial" panose="020B0604020202020204" pitchFamily="34" charset="0"/>
              <a:buNone/>
              <a:defRPr sz="1900" kern="1200">
                <a:solidFill>
                  <a:schemeClr val="tx1">
                    <a:lumMod val="50000"/>
                    <a:lumOff val="50000"/>
                  </a:schemeClr>
                </a:solidFill>
                <a:latin typeface="Gill Sans MT" panose="020B0502020104020203" pitchFamily="34" charset="0"/>
                <a:ea typeface="+mn-ea"/>
                <a:cs typeface="+mn-cs"/>
              </a:defRPr>
            </a:lvl1pPr>
            <a:lvl2pPr marL="242309" indent="-93196" algn="l" defTabSz="298227" rtl="0" eaLnBrk="1" latinLnBrk="0" hangingPunct="1">
              <a:spcBef>
                <a:spcPct val="20000"/>
              </a:spcBef>
              <a:buFont typeface="Arial" panose="020B0604020202020204" pitchFamily="34" charset="0"/>
              <a:buChar char="–"/>
              <a:defRPr sz="913" kern="1200">
                <a:solidFill>
                  <a:schemeClr val="tx1"/>
                </a:solidFill>
                <a:latin typeface="+mn-lt"/>
                <a:ea typeface="+mn-ea"/>
                <a:cs typeface="+mn-cs"/>
              </a:defRPr>
            </a:lvl2pPr>
            <a:lvl3pPr marL="372784" indent="-74557" algn="l" defTabSz="298227" rtl="0" eaLnBrk="1" latinLnBrk="0" hangingPunct="1">
              <a:spcBef>
                <a:spcPct val="20000"/>
              </a:spcBef>
              <a:buFont typeface="Arial" panose="020B0604020202020204" pitchFamily="34" charset="0"/>
              <a:buChar char="•"/>
              <a:defRPr sz="783" kern="1200">
                <a:solidFill>
                  <a:schemeClr val="tx1"/>
                </a:solidFill>
                <a:latin typeface="+mn-lt"/>
                <a:ea typeface="+mn-ea"/>
                <a:cs typeface="+mn-cs"/>
              </a:defRPr>
            </a:lvl3pPr>
            <a:lvl4pPr marL="521899"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4pPr>
            <a:lvl5pPr marL="67101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5pPr>
            <a:lvl6pPr marL="82012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6pPr>
            <a:lvl7pPr marL="969238"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7pPr>
            <a:lvl8pPr marL="111835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8pPr>
            <a:lvl9pPr marL="126746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9pPr>
          </a:lstStyle>
          <a:p>
            <a:pPr algn="just"/>
            <a:r>
              <a:rPr lang="es-ES" sz="1100" b="1" dirty="0">
                <a:solidFill>
                  <a:schemeClr val="tx1"/>
                </a:solidFill>
              </a:rPr>
              <a:t>Figura 1.5 </a:t>
            </a:r>
            <a:r>
              <a:rPr lang="es-ES" sz="1100" dirty="0">
                <a:solidFill>
                  <a:schemeClr val="tx1"/>
                </a:solidFill>
              </a:rPr>
              <a:t>Fallo por extracción </a:t>
            </a:r>
            <a:endParaRPr lang="es-MX" sz="1100" dirty="0">
              <a:solidFill>
                <a:schemeClr val="tx1"/>
              </a:solidFill>
            </a:endParaRPr>
          </a:p>
        </p:txBody>
      </p:sp>
      <p:pic>
        <p:nvPicPr>
          <p:cNvPr id="12" name="Image5">
            <a:extLst>
              <a:ext uri="{FF2B5EF4-FFF2-40B4-BE49-F238E27FC236}">
                <a16:creationId xmlns:a16="http://schemas.microsoft.com/office/drawing/2014/main" id="{57075CEF-2C8D-39D4-7EF2-E3F85812031B}"/>
              </a:ext>
            </a:extLst>
          </p:cNvPr>
          <p:cNvPicPr>
            <a:picLocks noChangeAspect="1"/>
          </p:cNvPicPr>
          <p:nvPr/>
        </p:nvPicPr>
        <p:blipFill rotWithShape="1">
          <a:blip r:embed="rId2"/>
          <a:srcRect t="866"/>
          <a:stretch>
            <a:fillRect/>
          </a:stretch>
        </p:blipFill>
        <p:spPr bwMode="auto">
          <a:xfrm>
            <a:off x="5796136" y="1013333"/>
            <a:ext cx="2160240" cy="267307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60251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56A0A-5A6B-68AA-8896-7F49289084F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F9BFA1-6CBB-488A-F947-D31E7D721924}"/>
              </a:ext>
            </a:extLst>
          </p:cNvPr>
          <p:cNvSpPr>
            <a:spLocks noGrp="1"/>
          </p:cNvSpPr>
          <p:nvPr>
            <p:ph type="title"/>
          </p:nvPr>
        </p:nvSpPr>
        <p:spPr/>
        <p:txBody>
          <a:bodyPr/>
          <a:lstStyle/>
          <a:p>
            <a:r>
              <a:rPr lang="es-ES" dirty="0"/>
              <a:t>1.5	Estados límite de falla en anclajes</a:t>
            </a:r>
            <a:endParaRPr lang="es-MX" dirty="0"/>
          </a:p>
        </p:txBody>
      </p:sp>
      <p:sp>
        <p:nvSpPr>
          <p:cNvPr id="5" name="CuadroTexto 4">
            <a:extLst>
              <a:ext uri="{FF2B5EF4-FFF2-40B4-BE49-F238E27FC236}">
                <a16:creationId xmlns:a16="http://schemas.microsoft.com/office/drawing/2014/main" id="{712640A9-202D-516C-C966-0868E90C679E}"/>
              </a:ext>
            </a:extLst>
          </p:cNvPr>
          <p:cNvSpPr txBox="1"/>
          <p:nvPr/>
        </p:nvSpPr>
        <p:spPr>
          <a:xfrm>
            <a:off x="827584" y="1502226"/>
            <a:ext cx="3960440" cy="2431435"/>
          </a:xfrm>
          <a:prstGeom prst="rect">
            <a:avLst/>
          </a:prstGeom>
          <a:noFill/>
        </p:spPr>
        <p:txBody>
          <a:bodyPr wrap="square" rtlCol="0">
            <a:spAutoFit/>
          </a:bodyPr>
          <a:lstStyle/>
          <a:p>
            <a:pPr algn="just"/>
            <a:r>
              <a:rPr lang="es-ES" sz="1900" b="1" dirty="0">
                <a:latin typeface="Gill Sans MT" panose="020B0502020104020203" pitchFamily="34" charset="0"/>
              </a:rPr>
              <a:t>•Extracción del anclaje (</a:t>
            </a:r>
            <a:r>
              <a:rPr lang="es-ES" sz="1900" b="1" dirty="0" err="1">
                <a:latin typeface="Gill Sans MT" panose="020B0502020104020203" pitchFamily="34" charset="0"/>
              </a:rPr>
              <a:t>pull-out</a:t>
            </a:r>
            <a:r>
              <a:rPr lang="es-ES" sz="1900" b="1" dirty="0">
                <a:latin typeface="Gill Sans MT" panose="020B0502020104020203" pitchFamily="34" charset="0"/>
              </a:rPr>
              <a:t>): </a:t>
            </a:r>
            <a:r>
              <a:rPr lang="es-ES" sz="1900" dirty="0">
                <a:latin typeface="Gill Sans MT" panose="020B0502020104020203" pitchFamily="34" charset="0"/>
              </a:rPr>
              <a:t>falla de adherencia entre el perno y el concreto sin formación de cono.</a:t>
            </a:r>
          </a:p>
          <a:p>
            <a:pPr algn="just"/>
            <a:endParaRPr lang="es-ES" sz="1900" dirty="0">
              <a:latin typeface="Gill Sans MT" panose="020B0502020104020203" pitchFamily="34" charset="0"/>
            </a:endParaRPr>
          </a:p>
          <a:p>
            <a:pPr algn="just"/>
            <a:r>
              <a:rPr lang="es-ES" sz="1900" b="1" dirty="0">
                <a:latin typeface="Gill Sans MT" panose="020B0502020104020203" pitchFamily="34" charset="0"/>
              </a:rPr>
              <a:t>•Estallido lateral (</a:t>
            </a:r>
            <a:r>
              <a:rPr lang="es-ES" sz="1900" b="1" dirty="0" err="1">
                <a:latin typeface="Gill Sans MT" panose="020B0502020104020203" pitchFamily="34" charset="0"/>
              </a:rPr>
              <a:t>side-face</a:t>
            </a:r>
            <a:r>
              <a:rPr lang="es-ES" sz="1900" b="1" dirty="0">
                <a:latin typeface="Gill Sans MT" panose="020B0502020104020203" pitchFamily="34" charset="0"/>
              </a:rPr>
              <a:t> </a:t>
            </a:r>
            <a:r>
              <a:rPr lang="es-ES" sz="1900" b="1" dirty="0" err="1">
                <a:latin typeface="Gill Sans MT" panose="020B0502020104020203" pitchFamily="34" charset="0"/>
              </a:rPr>
              <a:t>blowout</a:t>
            </a:r>
            <a:r>
              <a:rPr lang="es-ES" sz="1900" b="1" dirty="0">
                <a:latin typeface="Gill Sans MT" panose="020B0502020104020203" pitchFamily="34" charset="0"/>
              </a:rPr>
              <a:t>): </a:t>
            </a:r>
            <a:r>
              <a:rPr lang="es-ES" sz="1900" dirty="0">
                <a:latin typeface="Gill Sans MT" panose="020B0502020104020203" pitchFamily="34" charset="0"/>
              </a:rPr>
              <a:t>falla del recubrimiento lateral del concreto en anclajes de cabeza con poco recubrimiento.</a:t>
            </a:r>
          </a:p>
        </p:txBody>
      </p:sp>
      <p:sp>
        <p:nvSpPr>
          <p:cNvPr id="11" name="Marcador de contenido 1">
            <a:extLst>
              <a:ext uri="{FF2B5EF4-FFF2-40B4-BE49-F238E27FC236}">
                <a16:creationId xmlns:a16="http://schemas.microsoft.com/office/drawing/2014/main" id="{B7546C33-0CD4-8017-E4F1-4A948DCCCCBD}"/>
              </a:ext>
            </a:extLst>
          </p:cNvPr>
          <p:cNvSpPr txBox="1">
            <a:spLocks/>
          </p:cNvSpPr>
          <p:nvPr/>
        </p:nvSpPr>
        <p:spPr>
          <a:xfrm>
            <a:off x="5796136" y="3672288"/>
            <a:ext cx="2160240" cy="915758"/>
          </a:xfrm>
          <a:prstGeom prst="rect">
            <a:avLst/>
          </a:prstGeom>
        </p:spPr>
        <p:txBody>
          <a:bodyPr vert="horz" lIns="91440" tIns="45720" rIns="91440" bIns="45720" rtlCol="0">
            <a:noAutofit/>
          </a:bodyPr>
          <a:lstStyle>
            <a:lvl1pPr marL="0" indent="0" algn="l" defTabSz="298227" rtl="0" eaLnBrk="1" latinLnBrk="0" hangingPunct="1">
              <a:lnSpc>
                <a:spcPts val="2300"/>
              </a:lnSpc>
              <a:spcBef>
                <a:spcPct val="20000"/>
              </a:spcBef>
              <a:buFont typeface="Arial" panose="020B0604020202020204" pitchFamily="34" charset="0"/>
              <a:buNone/>
              <a:defRPr sz="1900" kern="1200">
                <a:solidFill>
                  <a:schemeClr val="tx1">
                    <a:lumMod val="50000"/>
                    <a:lumOff val="50000"/>
                  </a:schemeClr>
                </a:solidFill>
                <a:latin typeface="Gill Sans MT" panose="020B0502020104020203" pitchFamily="34" charset="0"/>
                <a:ea typeface="+mn-ea"/>
                <a:cs typeface="+mn-cs"/>
              </a:defRPr>
            </a:lvl1pPr>
            <a:lvl2pPr marL="242309" indent="-93196" algn="l" defTabSz="298227" rtl="0" eaLnBrk="1" latinLnBrk="0" hangingPunct="1">
              <a:spcBef>
                <a:spcPct val="20000"/>
              </a:spcBef>
              <a:buFont typeface="Arial" panose="020B0604020202020204" pitchFamily="34" charset="0"/>
              <a:buChar char="–"/>
              <a:defRPr sz="913" kern="1200">
                <a:solidFill>
                  <a:schemeClr val="tx1"/>
                </a:solidFill>
                <a:latin typeface="+mn-lt"/>
                <a:ea typeface="+mn-ea"/>
                <a:cs typeface="+mn-cs"/>
              </a:defRPr>
            </a:lvl2pPr>
            <a:lvl3pPr marL="372784" indent="-74557" algn="l" defTabSz="298227" rtl="0" eaLnBrk="1" latinLnBrk="0" hangingPunct="1">
              <a:spcBef>
                <a:spcPct val="20000"/>
              </a:spcBef>
              <a:buFont typeface="Arial" panose="020B0604020202020204" pitchFamily="34" charset="0"/>
              <a:buChar char="•"/>
              <a:defRPr sz="783" kern="1200">
                <a:solidFill>
                  <a:schemeClr val="tx1"/>
                </a:solidFill>
                <a:latin typeface="+mn-lt"/>
                <a:ea typeface="+mn-ea"/>
                <a:cs typeface="+mn-cs"/>
              </a:defRPr>
            </a:lvl3pPr>
            <a:lvl4pPr marL="521899"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4pPr>
            <a:lvl5pPr marL="67101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5pPr>
            <a:lvl6pPr marL="82012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6pPr>
            <a:lvl7pPr marL="969238"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7pPr>
            <a:lvl8pPr marL="111835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8pPr>
            <a:lvl9pPr marL="126746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9pPr>
          </a:lstStyle>
          <a:p>
            <a:pPr algn="just"/>
            <a:r>
              <a:rPr lang="es-ES" sz="1100" b="1" dirty="0">
                <a:solidFill>
                  <a:schemeClr val="tx1"/>
                </a:solidFill>
              </a:rPr>
              <a:t>Figura 1.6 </a:t>
            </a:r>
            <a:r>
              <a:rPr lang="es-ES" sz="1100" dirty="0">
                <a:solidFill>
                  <a:schemeClr val="tx1"/>
                </a:solidFill>
              </a:rPr>
              <a:t>Fallo por cono de concreto</a:t>
            </a:r>
            <a:endParaRPr lang="es-MX" sz="1100" dirty="0">
              <a:solidFill>
                <a:schemeClr val="tx1"/>
              </a:solidFill>
            </a:endParaRPr>
          </a:p>
        </p:txBody>
      </p:sp>
      <p:pic>
        <p:nvPicPr>
          <p:cNvPr id="3" name="Image6">
            <a:extLst>
              <a:ext uri="{FF2B5EF4-FFF2-40B4-BE49-F238E27FC236}">
                <a16:creationId xmlns:a16="http://schemas.microsoft.com/office/drawing/2014/main" id="{CE17939C-D4BD-92B8-07B5-06AD0D163FD4}"/>
              </a:ext>
            </a:extLst>
          </p:cNvPr>
          <p:cNvPicPr>
            <a:picLocks noChangeAspect="1"/>
          </p:cNvPicPr>
          <p:nvPr/>
        </p:nvPicPr>
        <p:blipFill>
          <a:blip r:embed="rId2"/>
          <a:stretch>
            <a:fillRect/>
          </a:stretch>
        </p:blipFill>
        <p:spPr bwMode="auto">
          <a:xfrm>
            <a:off x="5580112" y="1334659"/>
            <a:ext cx="2490389" cy="2230303"/>
          </a:xfrm>
          <a:prstGeom prst="rect">
            <a:avLst/>
          </a:prstGeom>
          <a:noFill/>
        </p:spPr>
      </p:pic>
    </p:spTree>
    <p:extLst>
      <p:ext uri="{BB962C8B-B14F-4D97-AF65-F5344CB8AC3E}">
        <p14:creationId xmlns:p14="http://schemas.microsoft.com/office/powerpoint/2010/main" val="3288628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77F1EB-3542-83C4-5E51-B6D0AAB5971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23ECF3-B2A8-2851-6C67-AD81FEFAF3F3}"/>
              </a:ext>
            </a:extLst>
          </p:cNvPr>
          <p:cNvSpPr>
            <a:spLocks noGrp="1"/>
          </p:cNvSpPr>
          <p:nvPr>
            <p:ph type="title"/>
          </p:nvPr>
        </p:nvSpPr>
        <p:spPr/>
        <p:txBody>
          <a:bodyPr/>
          <a:lstStyle/>
          <a:p>
            <a:r>
              <a:rPr lang="es-MX" dirty="0"/>
              <a:t>2. Planteamiento del Problema</a:t>
            </a:r>
          </a:p>
        </p:txBody>
      </p:sp>
      <p:sp>
        <p:nvSpPr>
          <p:cNvPr id="3" name="Marcador de texto 2">
            <a:extLst>
              <a:ext uri="{FF2B5EF4-FFF2-40B4-BE49-F238E27FC236}">
                <a16:creationId xmlns:a16="http://schemas.microsoft.com/office/drawing/2014/main" id="{0F942442-7CC5-35B7-D22D-3C43A645F17E}"/>
              </a:ext>
            </a:extLst>
          </p:cNvPr>
          <p:cNvSpPr>
            <a:spLocks noGrp="1"/>
          </p:cNvSpPr>
          <p:nvPr>
            <p:ph type="body" sz="quarter" idx="10"/>
          </p:nvPr>
        </p:nvSpPr>
        <p:spPr>
          <a:xfrm>
            <a:off x="842948" y="1203598"/>
            <a:ext cx="7458104" cy="3394472"/>
          </a:xfrm>
        </p:spPr>
        <p:txBody>
          <a:bodyPr/>
          <a:lstStyle/>
          <a:p>
            <a:pPr algn="just"/>
            <a:r>
              <a:rPr lang="es-ES" dirty="0">
                <a:solidFill>
                  <a:schemeClr val="tx1"/>
                </a:solidFill>
              </a:rPr>
              <a:t>Históricamente, el diseño de placas base en México ha ignorado la flexibilidad real de la conexión, asumiendo una rigidez infinita que no siempre se cumple. El sismo del 19-S en 2017 evidenció esta vulnerabilidad, mostrando fallas críticas por "</a:t>
            </a:r>
            <a:r>
              <a:rPr lang="es-ES" dirty="0" err="1">
                <a:solidFill>
                  <a:schemeClr val="tx1"/>
                </a:solidFill>
              </a:rPr>
              <a:t>prying</a:t>
            </a:r>
            <a:r>
              <a:rPr lang="es-ES" dirty="0">
                <a:solidFill>
                  <a:schemeClr val="tx1"/>
                </a:solidFill>
              </a:rPr>
              <a:t> </a:t>
            </a:r>
            <a:r>
              <a:rPr lang="es-ES" dirty="0" err="1">
                <a:solidFill>
                  <a:schemeClr val="tx1"/>
                </a:solidFill>
              </a:rPr>
              <a:t>action</a:t>
            </a:r>
            <a:r>
              <a:rPr lang="es-ES" dirty="0">
                <a:solidFill>
                  <a:schemeClr val="tx1"/>
                </a:solidFill>
              </a:rPr>
              <a:t>" y arrancamiento de anclajes que la normativa de 2017 no preveía adecuadamente. Ante la reciente publicación de las NTC 2023, resulta indispensable evaluar si estos nuevos criterios de diseño por capacidad sísmica resuelven las deficiencias del pasado y cómo afectan la configuración técnica y el costo de las estructuras de acero modernas.</a:t>
            </a:r>
            <a:endParaRPr lang="es-MX" dirty="0">
              <a:solidFill>
                <a:schemeClr val="tx1"/>
              </a:solidFill>
            </a:endParaRPr>
          </a:p>
        </p:txBody>
      </p:sp>
    </p:spTree>
    <p:extLst>
      <p:ext uri="{BB962C8B-B14F-4D97-AF65-F5344CB8AC3E}">
        <p14:creationId xmlns:p14="http://schemas.microsoft.com/office/powerpoint/2010/main" val="3874136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1408C-28CF-4BA6-81FB-853774525A4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754FEDD-915A-99D4-A5AE-5A048FCFFBB5}"/>
              </a:ext>
            </a:extLst>
          </p:cNvPr>
          <p:cNvSpPr>
            <a:spLocks noGrp="1"/>
          </p:cNvSpPr>
          <p:nvPr>
            <p:ph type="title"/>
          </p:nvPr>
        </p:nvSpPr>
        <p:spPr/>
        <p:txBody>
          <a:bodyPr/>
          <a:lstStyle/>
          <a:p>
            <a:r>
              <a:rPr lang="es-MX" dirty="0"/>
              <a:t>2. Planteamiento del Problema</a:t>
            </a:r>
          </a:p>
        </p:txBody>
      </p:sp>
      <p:sp>
        <p:nvSpPr>
          <p:cNvPr id="3" name="Marcador de texto 2">
            <a:extLst>
              <a:ext uri="{FF2B5EF4-FFF2-40B4-BE49-F238E27FC236}">
                <a16:creationId xmlns:a16="http://schemas.microsoft.com/office/drawing/2014/main" id="{0DD3B466-60D2-CF58-F976-8E83BB7CC6BE}"/>
              </a:ext>
            </a:extLst>
          </p:cNvPr>
          <p:cNvSpPr>
            <a:spLocks noGrp="1"/>
          </p:cNvSpPr>
          <p:nvPr>
            <p:ph type="body" sz="quarter" idx="10"/>
          </p:nvPr>
        </p:nvSpPr>
        <p:spPr>
          <a:xfrm>
            <a:off x="842948" y="1887674"/>
            <a:ext cx="7458104" cy="1368152"/>
          </a:xfrm>
        </p:spPr>
        <p:txBody>
          <a:bodyPr>
            <a:normAutofit fontScale="92500"/>
          </a:bodyPr>
          <a:lstStyle/>
          <a:p>
            <a:pPr algn="just"/>
            <a:r>
              <a:rPr lang="es-ES" dirty="0">
                <a:solidFill>
                  <a:schemeClr val="tx1"/>
                </a:solidFill>
              </a:rPr>
              <a:t>Por lo anterior, surge la siguiente interrogante: ¿En qué medida la transición hacia los criterios de diseño por capacidad y el método de líneas de fluencia de las NTC 2023 optimiza la seguridad estructural y optimiza el uso de materiales en comparación con el enfoque de las NTC 2017?</a:t>
            </a:r>
            <a:endParaRPr lang="es-MX" dirty="0">
              <a:solidFill>
                <a:schemeClr val="tx1"/>
              </a:solidFill>
            </a:endParaRPr>
          </a:p>
        </p:txBody>
      </p:sp>
    </p:spTree>
    <p:extLst>
      <p:ext uri="{BB962C8B-B14F-4D97-AF65-F5344CB8AC3E}">
        <p14:creationId xmlns:p14="http://schemas.microsoft.com/office/powerpoint/2010/main" val="2073741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3B1BB-C596-3F23-E487-A27F0D802C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A3CE621-90E8-5C59-7CA7-4ADB20F1E0EC}"/>
              </a:ext>
            </a:extLst>
          </p:cNvPr>
          <p:cNvSpPr>
            <a:spLocks noGrp="1"/>
          </p:cNvSpPr>
          <p:nvPr>
            <p:ph type="title"/>
          </p:nvPr>
        </p:nvSpPr>
        <p:spPr/>
        <p:txBody>
          <a:bodyPr/>
          <a:lstStyle/>
          <a:p>
            <a:r>
              <a:rPr lang="es-MX" dirty="0"/>
              <a:t>3.	Objetivos</a:t>
            </a:r>
            <a:br>
              <a:rPr lang="es-MX" dirty="0"/>
            </a:br>
            <a:r>
              <a:rPr lang="es-MX" dirty="0"/>
              <a:t>	3.1 Objetivos generales</a:t>
            </a:r>
          </a:p>
        </p:txBody>
      </p:sp>
      <p:sp>
        <p:nvSpPr>
          <p:cNvPr id="3" name="Marcador de texto 2">
            <a:extLst>
              <a:ext uri="{FF2B5EF4-FFF2-40B4-BE49-F238E27FC236}">
                <a16:creationId xmlns:a16="http://schemas.microsoft.com/office/drawing/2014/main" id="{FD66EE40-0A10-1870-CE56-39AA53729DEE}"/>
              </a:ext>
            </a:extLst>
          </p:cNvPr>
          <p:cNvSpPr>
            <a:spLocks noGrp="1"/>
          </p:cNvSpPr>
          <p:nvPr>
            <p:ph type="body" sz="quarter" idx="10"/>
          </p:nvPr>
        </p:nvSpPr>
        <p:spPr>
          <a:xfrm>
            <a:off x="842948" y="1563638"/>
            <a:ext cx="7458104" cy="3034432"/>
          </a:xfrm>
        </p:spPr>
        <p:txBody>
          <a:bodyPr/>
          <a:lstStyle/>
          <a:p>
            <a:pPr algn="just"/>
            <a:r>
              <a:rPr lang="es-ES" dirty="0">
                <a:solidFill>
                  <a:schemeClr val="tx1"/>
                </a:solidFill>
              </a:rPr>
              <a:t>Realizar un análisis comparativo en la metodología y dimensionamiento del diseño de placas base para conexiones columna-cimentación en estructuras de acero, contrastando los criterios establecidos en las NTC-DCEA 2017 frente a los preceptos actualizados de las NTC-DCEA 2023, para evaluar su impacto técnico, geométrico y material ante escenarios de solicitación estructural.</a:t>
            </a:r>
            <a:endParaRPr lang="es-MX" dirty="0">
              <a:solidFill>
                <a:schemeClr val="tx1"/>
              </a:solidFill>
            </a:endParaRPr>
          </a:p>
        </p:txBody>
      </p:sp>
    </p:spTree>
    <p:extLst>
      <p:ext uri="{BB962C8B-B14F-4D97-AF65-F5344CB8AC3E}">
        <p14:creationId xmlns:p14="http://schemas.microsoft.com/office/powerpoint/2010/main" val="4233452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FCDFB-C42C-B255-7C69-C6BEAC7DC6C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FECF22-1C12-80AB-12E1-3A365E58351F}"/>
              </a:ext>
            </a:extLst>
          </p:cNvPr>
          <p:cNvSpPr>
            <a:spLocks noGrp="1"/>
          </p:cNvSpPr>
          <p:nvPr>
            <p:ph type="title"/>
          </p:nvPr>
        </p:nvSpPr>
        <p:spPr/>
        <p:txBody>
          <a:bodyPr/>
          <a:lstStyle/>
          <a:p>
            <a:r>
              <a:rPr lang="es-MX" dirty="0"/>
              <a:t>3.2	Objetivos Específicos</a:t>
            </a:r>
          </a:p>
        </p:txBody>
      </p:sp>
      <p:sp>
        <p:nvSpPr>
          <p:cNvPr id="3" name="Marcador de texto 2">
            <a:extLst>
              <a:ext uri="{FF2B5EF4-FFF2-40B4-BE49-F238E27FC236}">
                <a16:creationId xmlns:a16="http://schemas.microsoft.com/office/drawing/2014/main" id="{C628F6DA-0910-4695-FF84-69B0F7D1E0ED}"/>
              </a:ext>
            </a:extLst>
          </p:cNvPr>
          <p:cNvSpPr>
            <a:spLocks noGrp="1"/>
          </p:cNvSpPr>
          <p:nvPr>
            <p:ph type="body" sz="quarter" idx="10"/>
          </p:nvPr>
        </p:nvSpPr>
        <p:spPr>
          <a:xfrm>
            <a:off x="842948" y="1203598"/>
            <a:ext cx="7458104" cy="3394472"/>
          </a:xfrm>
        </p:spPr>
        <p:txBody>
          <a:bodyPr>
            <a:noAutofit/>
          </a:bodyPr>
          <a:lstStyle/>
          <a:p>
            <a:pPr algn="just"/>
            <a:r>
              <a:rPr lang="es-ES" sz="1600" dirty="0">
                <a:solidFill>
                  <a:schemeClr val="tx1"/>
                </a:solidFill>
              </a:rPr>
              <a:t>1.	Identificar y sistematizar las diferencias en los criterios de diseño entre ambas NTC.</a:t>
            </a:r>
          </a:p>
          <a:p>
            <a:pPr algn="just"/>
            <a:r>
              <a:rPr lang="es-ES" sz="1600" dirty="0">
                <a:solidFill>
                  <a:schemeClr val="tx1"/>
                </a:solidFill>
              </a:rPr>
              <a:t>2.	Definir escenarios comparativos (casos de estudio) evaluando combinaciones que dominen en compresión pura, flexo-compresión moderada y severa, y demandas elevadas de cortante.</a:t>
            </a:r>
          </a:p>
          <a:p>
            <a:pPr algn="just"/>
            <a:r>
              <a:rPr lang="es-ES" sz="1600" dirty="0">
                <a:solidFill>
                  <a:schemeClr val="tx1"/>
                </a:solidFill>
              </a:rPr>
              <a:t>3.	Dimensionar, bajo los mismos parámetros de carga, la configuración de la placa base (área en planta y espesor requerido) y caracterizar los sistemas de anclaje de acuerdo con cada normatividad.</a:t>
            </a:r>
          </a:p>
          <a:p>
            <a:pPr algn="just"/>
            <a:r>
              <a:rPr lang="es-ES" sz="1600" dirty="0">
                <a:solidFill>
                  <a:schemeClr val="tx1"/>
                </a:solidFill>
              </a:rPr>
              <a:t>4.	Calcular numéricamente las variaciones porcentuales en la resistencia y en el peso de los materiales.</a:t>
            </a:r>
          </a:p>
        </p:txBody>
      </p:sp>
    </p:spTree>
    <p:extLst>
      <p:ext uri="{BB962C8B-B14F-4D97-AF65-F5344CB8AC3E}">
        <p14:creationId xmlns:p14="http://schemas.microsoft.com/office/powerpoint/2010/main" val="1345068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9FB13-0D2B-7562-BAD6-DE9A59D1BF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215226E-0939-77D8-1A64-CC6D063F9525}"/>
              </a:ext>
            </a:extLst>
          </p:cNvPr>
          <p:cNvSpPr>
            <a:spLocks noGrp="1"/>
          </p:cNvSpPr>
          <p:nvPr>
            <p:ph type="title"/>
          </p:nvPr>
        </p:nvSpPr>
        <p:spPr/>
        <p:txBody>
          <a:bodyPr/>
          <a:lstStyle/>
          <a:p>
            <a:r>
              <a:rPr lang="es-MX" dirty="0"/>
              <a:t>4. Marco teórico</a:t>
            </a:r>
          </a:p>
        </p:txBody>
      </p:sp>
      <p:sp>
        <p:nvSpPr>
          <p:cNvPr id="3" name="Marcador de texto 2">
            <a:extLst>
              <a:ext uri="{FF2B5EF4-FFF2-40B4-BE49-F238E27FC236}">
                <a16:creationId xmlns:a16="http://schemas.microsoft.com/office/drawing/2014/main" id="{A92F92BE-8EBE-972F-01FF-E55B2D28AA17}"/>
              </a:ext>
            </a:extLst>
          </p:cNvPr>
          <p:cNvSpPr>
            <a:spLocks noGrp="1"/>
          </p:cNvSpPr>
          <p:nvPr>
            <p:ph type="body" sz="quarter" idx="10"/>
          </p:nvPr>
        </p:nvSpPr>
        <p:spPr>
          <a:xfrm>
            <a:off x="457202" y="1203598"/>
            <a:ext cx="7843850" cy="2232248"/>
          </a:xfrm>
        </p:spPr>
        <p:txBody>
          <a:bodyPr>
            <a:noAutofit/>
          </a:bodyPr>
          <a:lstStyle/>
          <a:p>
            <a:pPr algn="just"/>
            <a:r>
              <a:rPr lang="es-ES" sz="1600" b="1" dirty="0">
                <a:solidFill>
                  <a:schemeClr val="tx1"/>
                </a:solidFill>
              </a:rPr>
              <a:t>3.1	Conceptos Fundamentales de Estructuras de Acero</a:t>
            </a:r>
          </a:p>
          <a:p>
            <a:pPr algn="just"/>
            <a:r>
              <a:rPr lang="es-ES" sz="1600" b="1" dirty="0">
                <a:solidFill>
                  <a:schemeClr val="tx1"/>
                </a:solidFill>
              </a:rPr>
              <a:t>	</a:t>
            </a:r>
            <a:r>
              <a:rPr lang="es-ES" sz="1600" dirty="0">
                <a:solidFill>
                  <a:schemeClr val="tx1"/>
                </a:solidFill>
              </a:rPr>
              <a:t>Módulo de Elasticidad (E): 2,000,000kg/cm^2</a:t>
            </a:r>
          </a:p>
          <a:p>
            <a:pPr algn="just"/>
            <a:r>
              <a:rPr lang="es-ES" sz="1600" dirty="0">
                <a:solidFill>
                  <a:schemeClr val="tx1"/>
                </a:solidFill>
              </a:rPr>
              <a:t>	Esfuerzo de Fluencia (</a:t>
            </a:r>
            <a:r>
              <a:rPr lang="es-ES" sz="1600" dirty="0" err="1">
                <a:solidFill>
                  <a:schemeClr val="tx1"/>
                </a:solidFill>
              </a:rPr>
              <a:t>Fy</a:t>
            </a:r>
            <a:r>
              <a:rPr lang="es-ES" sz="1600" dirty="0">
                <a:solidFill>
                  <a:schemeClr val="tx1"/>
                </a:solidFill>
              </a:rPr>
              <a:t>): 2,530kg/cm^2</a:t>
            </a:r>
          </a:p>
          <a:p>
            <a:pPr algn="just"/>
            <a:r>
              <a:rPr lang="es-ES" sz="1600" dirty="0">
                <a:solidFill>
                  <a:schemeClr val="tx1"/>
                </a:solidFill>
              </a:rPr>
              <a:t>	Esfuerzo de Ruptura (Fu): 4,080kg/cm^2</a:t>
            </a:r>
          </a:p>
          <a:p>
            <a:pPr algn="just"/>
            <a:r>
              <a:rPr lang="es-ES" sz="1600" dirty="0">
                <a:solidFill>
                  <a:schemeClr val="tx1"/>
                </a:solidFill>
              </a:rPr>
              <a:t>El diseño busca controlar la transición del comportamiento elástico a la deformación plástica.</a:t>
            </a:r>
            <a:r>
              <a:rPr lang="es-MX" sz="1600" dirty="0"/>
              <a:t> </a:t>
            </a:r>
            <a:endParaRPr lang="es-ES" sz="1600" dirty="0">
              <a:solidFill>
                <a:schemeClr val="tx1"/>
              </a:solidFill>
            </a:endParaRPr>
          </a:p>
          <a:p>
            <a:pPr algn="just"/>
            <a:endParaRPr lang="es-ES" sz="1600" b="1" dirty="0">
              <a:solidFill>
                <a:schemeClr val="tx1"/>
              </a:solidFill>
            </a:endParaRPr>
          </a:p>
        </p:txBody>
      </p:sp>
    </p:spTree>
    <p:extLst>
      <p:ext uri="{BB962C8B-B14F-4D97-AF65-F5344CB8AC3E}">
        <p14:creationId xmlns:p14="http://schemas.microsoft.com/office/powerpoint/2010/main" val="2317659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5C44E-9258-D70A-B05A-A9A40B435E45}"/>
            </a:ext>
          </a:extLst>
        </p:cNvPr>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B4E2FC8D-2463-49FE-90B5-17A2EA193F34}"/>
              </a:ext>
            </a:extLst>
          </p:cNvPr>
          <p:cNvSpPr>
            <a:spLocks noGrp="1"/>
          </p:cNvSpPr>
          <p:nvPr>
            <p:ph sz="quarter" idx="14"/>
          </p:nvPr>
        </p:nvSpPr>
        <p:spPr>
          <a:xfrm>
            <a:off x="400093" y="1275606"/>
            <a:ext cx="4313119" cy="3168352"/>
          </a:xfrm>
        </p:spPr>
        <p:txBody>
          <a:bodyPr>
            <a:noAutofit/>
          </a:bodyPr>
          <a:lstStyle/>
          <a:p>
            <a:pPr marL="285750" indent="-285750" algn="just">
              <a:buFont typeface="Arial" panose="020B0604020202020204" pitchFamily="34" charset="0"/>
              <a:buChar char="•"/>
            </a:pPr>
            <a:r>
              <a:rPr lang="es-ES" sz="1600" dirty="0">
                <a:solidFill>
                  <a:schemeClr val="tx1"/>
                </a:solidFill>
              </a:rPr>
              <a:t>	Objetivo: Distribuir cargas axiales (Pu), cortantes (</a:t>
            </a:r>
            <a:r>
              <a:rPr lang="es-ES" sz="1600" dirty="0" err="1">
                <a:solidFill>
                  <a:schemeClr val="tx1"/>
                </a:solidFill>
              </a:rPr>
              <a:t>Vu</a:t>
            </a:r>
            <a:r>
              <a:rPr lang="es-ES" sz="1600" dirty="0">
                <a:solidFill>
                  <a:schemeClr val="tx1"/>
                </a:solidFill>
              </a:rPr>
              <a:t>) y momentos (Mu) sobre el pedestal.</a:t>
            </a:r>
          </a:p>
          <a:p>
            <a:pPr algn="just"/>
            <a:r>
              <a:rPr lang="es-ES" sz="1600" b="1" dirty="0">
                <a:solidFill>
                  <a:schemeClr val="tx1"/>
                </a:solidFill>
              </a:rPr>
              <a:t>Componentes Críticos</a:t>
            </a:r>
          </a:p>
          <a:p>
            <a:pPr marL="285750" indent="-285750" algn="just">
              <a:buFont typeface="Arial" panose="020B0604020202020204" pitchFamily="34" charset="0"/>
              <a:buChar char="•"/>
            </a:pPr>
            <a:r>
              <a:rPr lang="es-ES" sz="1600" dirty="0">
                <a:solidFill>
                  <a:schemeClr val="tx1"/>
                </a:solidFill>
              </a:rPr>
              <a:t>	Placa: Diseñada por espesor para resistir flexión.</a:t>
            </a:r>
          </a:p>
          <a:p>
            <a:pPr marL="285750" indent="-285750" algn="just">
              <a:buFont typeface="Arial" panose="020B0604020202020204" pitchFamily="34" charset="0"/>
              <a:buChar char="•"/>
            </a:pPr>
            <a:r>
              <a:rPr lang="es-ES" sz="1600" dirty="0">
                <a:solidFill>
                  <a:schemeClr val="tx1"/>
                </a:solidFill>
              </a:rPr>
              <a:t>	Anclas: Encargadas de la tensión y el anclaje mecánico.</a:t>
            </a:r>
          </a:p>
          <a:p>
            <a:pPr marL="285750" indent="-285750" algn="just">
              <a:buFont typeface="Arial" panose="020B0604020202020204" pitchFamily="34" charset="0"/>
              <a:buChar char="•"/>
            </a:pPr>
            <a:r>
              <a:rPr lang="es-ES" sz="1600" dirty="0">
                <a:solidFill>
                  <a:schemeClr val="tx1"/>
                </a:solidFill>
              </a:rPr>
              <a:t>	</a:t>
            </a:r>
            <a:r>
              <a:rPr lang="es-ES" sz="1600" dirty="0" err="1">
                <a:solidFill>
                  <a:schemeClr val="tx1"/>
                </a:solidFill>
              </a:rPr>
              <a:t>Grout</a:t>
            </a:r>
            <a:r>
              <a:rPr lang="es-ES" sz="1600" dirty="0">
                <a:solidFill>
                  <a:schemeClr val="tx1"/>
                </a:solidFill>
              </a:rPr>
              <a:t>: Capa de nivelación de alta resistencia para contacto uniforme.</a:t>
            </a:r>
          </a:p>
          <a:p>
            <a:endParaRPr lang="es-MX" sz="1600" dirty="0"/>
          </a:p>
        </p:txBody>
      </p:sp>
      <p:sp>
        <p:nvSpPr>
          <p:cNvPr id="6" name="Título 1">
            <a:extLst>
              <a:ext uri="{FF2B5EF4-FFF2-40B4-BE49-F238E27FC236}">
                <a16:creationId xmlns:a16="http://schemas.microsoft.com/office/drawing/2014/main" id="{61CCDFC7-8476-7AF4-32DF-4848879F8CDC}"/>
              </a:ext>
            </a:extLst>
          </p:cNvPr>
          <p:cNvSpPr txBox="1">
            <a:spLocks/>
          </p:cNvSpPr>
          <p:nvPr/>
        </p:nvSpPr>
        <p:spPr>
          <a:xfrm>
            <a:off x="457202" y="699542"/>
            <a:ext cx="8229600" cy="504056"/>
          </a:xfrm>
          <a:prstGeom prst="rect">
            <a:avLst/>
          </a:prstGeom>
        </p:spPr>
        <p:txBody>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r>
              <a:rPr lang="es-ES" dirty="0"/>
              <a:t>4.2 Componentes de la Conexión</a:t>
            </a:r>
            <a:endParaRPr lang="es-MX" dirty="0"/>
          </a:p>
        </p:txBody>
      </p:sp>
      <p:sp>
        <p:nvSpPr>
          <p:cNvPr id="8" name="Marcador de contenido 1">
            <a:extLst>
              <a:ext uri="{FF2B5EF4-FFF2-40B4-BE49-F238E27FC236}">
                <a16:creationId xmlns:a16="http://schemas.microsoft.com/office/drawing/2014/main" id="{A53CBD87-D1F0-BF23-1C90-3CE3E27BBAF2}"/>
              </a:ext>
            </a:extLst>
          </p:cNvPr>
          <p:cNvSpPr txBox="1">
            <a:spLocks/>
          </p:cNvSpPr>
          <p:nvPr/>
        </p:nvSpPr>
        <p:spPr>
          <a:xfrm>
            <a:off x="4980639" y="3260350"/>
            <a:ext cx="3311236" cy="969875"/>
          </a:xfrm>
          <a:prstGeom prst="rect">
            <a:avLst/>
          </a:prstGeom>
        </p:spPr>
        <p:txBody>
          <a:bodyPr vert="horz" lIns="91440" tIns="45720" rIns="91440" bIns="45720" rtlCol="0">
            <a:noAutofit/>
          </a:bodyPr>
          <a:lstStyle>
            <a:lvl1pPr marL="0" indent="0" algn="l" defTabSz="298227" rtl="0" eaLnBrk="1" latinLnBrk="0" hangingPunct="1">
              <a:lnSpc>
                <a:spcPts val="2300"/>
              </a:lnSpc>
              <a:spcBef>
                <a:spcPct val="20000"/>
              </a:spcBef>
              <a:buFont typeface="Arial" panose="020B0604020202020204" pitchFamily="34" charset="0"/>
              <a:buNone/>
              <a:defRPr sz="1900" kern="1200">
                <a:solidFill>
                  <a:schemeClr val="tx1">
                    <a:lumMod val="50000"/>
                    <a:lumOff val="50000"/>
                  </a:schemeClr>
                </a:solidFill>
                <a:latin typeface="Gill Sans MT" panose="020B0502020104020203" pitchFamily="34" charset="0"/>
                <a:ea typeface="+mn-ea"/>
                <a:cs typeface="+mn-cs"/>
              </a:defRPr>
            </a:lvl1pPr>
            <a:lvl2pPr marL="242309" indent="-93196" algn="l" defTabSz="298227" rtl="0" eaLnBrk="1" latinLnBrk="0" hangingPunct="1">
              <a:spcBef>
                <a:spcPct val="20000"/>
              </a:spcBef>
              <a:buFont typeface="Arial" panose="020B0604020202020204" pitchFamily="34" charset="0"/>
              <a:buChar char="–"/>
              <a:defRPr sz="913" kern="1200">
                <a:solidFill>
                  <a:schemeClr val="tx1"/>
                </a:solidFill>
                <a:latin typeface="+mn-lt"/>
                <a:ea typeface="+mn-ea"/>
                <a:cs typeface="+mn-cs"/>
              </a:defRPr>
            </a:lvl2pPr>
            <a:lvl3pPr marL="372784" indent="-74557" algn="l" defTabSz="298227" rtl="0" eaLnBrk="1" latinLnBrk="0" hangingPunct="1">
              <a:spcBef>
                <a:spcPct val="20000"/>
              </a:spcBef>
              <a:buFont typeface="Arial" panose="020B0604020202020204" pitchFamily="34" charset="0"/>
              <a:buChar char="•"/>
              <a:defRPr sz="783" kern="1200">
                <a:solidFill>
                  <a:schemeClr val="tx1"/>
                </a:solidFill>
                <a:latin typeface="+mn-lt"/>
                <a:ea typeface="+mn-ea"/>
                <a:cs typeface="+mn-cs"/>
              </a:defRPr>
            </a:lvl3pPr>
            <a:lvl4pPr marL="521899"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4pPr>
            <a:lvl5pPr marL="67101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5pPr>
            <a:lvl6pPr marL="82012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6pPr>
            <a:lvl7pPr marL="969238"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7pPr>
            <a:lvl8pPr marL="111835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8pPr>
            <a:lvl9pPr marL="126746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9pPr>
          </a:lstStyle>
          <a:p>
            <a:pPr algn="just"/>
            <a:r>
              <a:rPr lang="es-ES" sz="1100" b="1" dirty="0">
                <a:solidFill>
                  <a:schemeClr val="tx1"/>
                </a:solidFill>
              </a:rPr>
              <a:t>Figura 3.1</a:t>
            </a:r>
            <a:r>
              <a:rPr lang="es-ES" sz="1100" dirty="0">
                <a:solidFill>
                  <a:schemeClr val="tx1"/>
                </a:solidFill>
              </a:rPr>
              <a:t>. Despiece isométrico de la conexión: columna W, placa base, pernos de anclaje con tuerca y arandela, capa de </a:t>
            </a:r>
            <a:r>
              <a:rPr lang="es-ES" sz="1100" dirty="0" err="1">
                <a:solidFill>
                  <a:schemeClr val="tx1"/>
                </a:solidFill>
              </a:rPr>
              <a:t>grout</a:t>
            </a:r>
            <a:r>
              <a:rPr lang="es-ES" sz="1100" dirty="0">
                <a:solidFill>
                  <a:schemeClr val="tx1"/>
                </a:solidFill>
              </a:rPr>
              <a:t> y pedestal de concreto. </a:t>
            </a:r>
            <a:endParaRPr lang="es-MX" sz="1100" dirty="0">
              <a:solidFill>
                <a:schemeClr val="tx1"/>
              </a:solidFill>
            </a:endParaRPr>
          </a:p>
        </p:txBody>
      </p:sp>
      <p:pic>
        <p:nvPicPr>
          <p:cNvPr id="11" name="Imagen 10">
            <a:extLst>
              <a:ext uri="{FF2B5EF4-FFF2-40B4-BE49-F238E27FC236}">
                <a16:creationId xmlns:a16="http://schemas.microsoft.com/office/drawing/2014/main" id="{362C8FB0-5E55-2222-4AD1-C182CF2205A9}"/>
              </a:ext>
            </a:extLst>
          </p:cNvPr>
          <p:cNvPicPr>
            <a:picLocks noChangeAspect="1"/>
          </p:cNvPicPr>
          <p:nvPr/>
        </p:nvPicPr>
        <p:blipFill>
          <a:blip r:embed="rId2"/>
          <a:stretch>
            <a:fillRect/>
          </a:stretch>
        </p:blipFill>
        <p:spPr>
          <a:xfrm>
            <a:off x="4846926" y="913275"/>
            <a:ext cx="3578662" cy="2438611"/>
          </a:xfrm>
          <a:prstGeom prst="rect">
            <a:avLst/>
          </a:prstGeom>
        </p:spPr>
      </p:pic>
    </p:spTree>
    <p:extLst>
      <p:ext uri="{BB962C8B-B14F-4D97-AF65-F5344CB8AC3E}">
        <p14:creationId xmlns:p14="http://schemas.microsoft.com/office/powerpoint/2010/main" val="555489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E59F2-B6D7-54AE-1C45-2FBFAE63F69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F59157B-E0F0-802C-2091-2BA2FD9B76BD}"/>
              </a:ext>
            </a:extLst>
          </p:cNvPr>
          <p:cNvSpPr>
            <a:spLocks noGrp="1"/>
          </p:cNvSpPr>
          <p:nvPr>
            <p:ph type="title"/>
          </p:nvPr>
        </p:nvSpPr>
        <p:spPr/>
        <p:txBody>
          <a:bodyPr/>
          <a:lstStyle/>
          <a:p>
            <a:r>
              <a:rPr lang="es-ES" dirty="0"/>
              <a:t>4.3 Modos de Falla en Placas Base</a:t>
            </a:r>
            <a:endParaRPr lang="es-MX" dirty="0"/>
          </a:p>
        </p:txBody>
      </p:sp>
      <p:sp>
        <p:nvSpPr>
          <p:cNvPr id="3" name="Marcador de texto 2">
            <a:extLst>
              <a:ext uri="{FF2B5EF4-FFF2-40B4-BE49-F238E27FC236}">
                <a16:creationId xmlns:a16="http://schemas.microsoft.com/office/drawing/2014/main" id="{920F13DF-1F15-0C2E-5418-B3AF3EB8B6FA}"/>
              </a:ext>
            </a:extLst>
          </p:cNvPr>
          <p:cNvSpPr>
            <a:spLocks noGrp="1"/>
          </p:cNvSpPr>
          <p:nvPr>
            <p:ph type="body" sz="quarter" idx="10"/>
          </p:nvPr>
        </p:nvSpPr>
        <p:spPr>
          <a:xfrm>
            <a:off x="457202" y="1203598"/>
            <a:ext cx="7843850" cy="3096344"/>
          </a:xfrm>
        </p:spPr>
        <p:txBody>
          <a:bodyPr>
            <a:noAutofit/>
          </a:bodyPr>
          <a:lstStyle/>
          <a:p>
            <a:pPr marL="285750" indent="-285750" algn="just">
              <a:buFont typeface="Wingdings" panose="05000000000000000000" pitchFamily="2" charset="2"/>
              <a:buChar char="§"/>
            </a:pPr>
            <a:r>
              <a:rPr lang="es-ES" sz="1600" b="1" dirty="0">
                <a:solidFill>
                  <a:schemeClr val="tx1"/>
                </a:solidFill>
              </a:rPr>
              <a:t>	Aplastamiento del concreto o </a:t>
            </a:r>
            <a:r>
              <a:rPr lang="es-ES" sz="1600" b="1" dirty="0" err="1">
                <a:solidFill>
                  <a:schemeClr val="tx1"/>
                </a:solidFill>
              </a:rPr>
              <a:t>grout</a:t>
            </a:r>
            <a:r>
              <a:rPr lang="es-ES" sz="1600" b="1" dirty="0">
                <a:solidFill>
                  <a:schemeClr val="tx1"/>
                </a:solidFill>
              </a:rPr>
              <a:t>: </a:t>
            </a:r>
            <a:r>
              <a:rPr lang="es-ES" sz="1600" dirty="0">
                <a:solidFill>
                  <a:schemeClr val="tx1"/>
                </a:solidFill>
              </a:rPr>
              <a:t>Ocurre cuando la presión de contacto supera la resistencia a la compresión confinada del pedestal. </a:t>
            </a:r>
          </a:p>
          <a:p>
            <a:pPr marL="285750" indent="-285750" algn="just">
              <a:buFont typeface="Wingdings" panose="05000000000000000000" pitchFamily="2" charset="2"/>
              <a:buChar char="§"/>
            </a:pPr>
            <a:r>
              <a:rPr lang="es-ES" sz="1600" dirty="0">
                <a:solidFill>
                  <a:schemeClr val="tx1"/>
                </a:solidFill>
              </a:rPr>
              <a:t>	</a:t>
            </a:r>
            <a:r>
              <a:rPr lang="es-ES" sz="1600" b="1" dirty="0">
                <a:solidFill>
                  <a:schemeClr val="tx1"/>
                </a:solidFill>
              </a:rPr>
              <a:t>Fluencia por flexión en la placa base: </a:t>
            </a:r>
            <a:r>
              <a:rPr lang="es-ES" sz="1600" dirty="0">
                <a:solidFill>
                  <a:schemeClr val="tx1"/>
                </a:solidFill>
              </a:rPr>
              <a:t>Se presenta cuando el espesor de la placa es insuficiente, causando que el acero alcance su esfuerzo de fluencia (</a:t>
            </a:r>
            <a:r>
              <a:rPr lang="es-ES" sz="1600" dirty="0" err="1">
                <a:solidFill>
                  <a:schemeClr val="tx1"/>
                </a:solidFill>
              </a:rPr>
              <a:t>Fy</a:t>
            </a:r>
            <a:r>
              <a:rPr lang="es-ES" sz="1600" dirty="0">
                <a:solidFill>
                  <a:schemeClr val="tx1"/>
                </a:solidFill>
              </a:rPr>
              <a:t>) y se deforme plásticamente. </a:t>
            </a:r>
          </a:p>
          <a:p>
            <a:pPr marL="285750" indent="-285750" algn="just">
              <a:buFont typeface="Wingdings" panose="05000000000000000000" pitchFamily="2" charset="2"/>
              <a:buChar char="§"/>
            </a:pPr>
            <a:r>
              <a:rPr lang="es-ES" sz="1600" b="1" dirty="0">
                <a:solidFill>
                  <a:schemeClr val="tx1"/>
                </a:solidFill>
              </a:rPr>
              <a:t>	Falla por deslizamiento: </a:t>
            </a:r>
            <a:r>
              <a:rPr lang="es-ES" sz="1600" dirty="0">
                <a:solidFill>
                  <a:schemeClr val="tx1"/>
                </a:solidFill>
              </a:rPr>
              <a:t>Cuando la fuerza cortante supera la fricción entre la placa y el </a:t>
            </a:r>
            <a:r>
              <a:rPr lang="es-ES" sz="1600" dirty="0" err="1">
                <a:solidFill>
                  <a:schemeClr val="tx1"/>
                </a:solidFill>
              </a:rPr>
              <a:t>grout</a:t>
            </a:r>
            <a:r>
              <a:rPr lang="es-ES" sz="1600" dirty="0">
                <a:solidFill>
                  <a:schemeClr val="tx1"/>
                </a:solidFill>
              </a:rPr>
              <a:t>, y la capacidad a cortante de las anclas.</a:t>
            </a:r>
          </a:p>
          <a:p>
            <a:pPr marL="285750" indent="-285750" algn="just">
              <a:buFont typeface="Wingdings" panose="05000000000000000000" pitchFamily="2" charset="2"/>
              <a:buChar char="§"/>
            </a:pPr>
            <a:r>
              <a:rPr lang="es-ES" sz="1600" dirty="0">
                <a:solidFill>
                  <a:schemeClr val="tx1"/>
                </a:solidFill>
              </a:rPr>
              <a:t>	</a:t>
            </a:r>
            <a:r>
              <a:rPr lang="es-ES" sz="1600" b="1" dirty="0">
                <a:solidFill>
                  <a:schemeClr val="tx1"/>
                </a:solidFill>
              </a:rPr>
              <a:t>Falla en las anclas: </a:t>
            </a:r>
            <a:r>
              <a:rPr lang="es-ES" sz="1600" dirty="0">
                <a:solidFill>
                  <a:schemeClr val="tx1"/>
                </a:solidFill>
              </a:rPr>
              <a:t>Puede darse por fluencia del acero en tensión, fractura del acero, arrancamiento del cono de concreto (</a:t>
            </a:r>
            <a:r>
              <a:rPr lang="es-ES" sz="1600" dirty="0" err="1">
                <a:solidFill>
                  <a:schemeClr val="tx1"/>
                </a:solidFill>
              </a:rPr>
              <a:t>pull-out</a:t>
            </a:r>
            <a:r>
              <a:rPr lang="es-ES" sz="1600" dirty="0">
                <a:solidFill>
                  <a:schemeClr val="tx1"/>
                </a:solidFill>
              </a:rPr>
              <a:t>) o falla por cortante. </a:t>
            </a:r>
          </a:p>
          <a:p>
            <a:pPr marL="285750" indent="-285750" algn="just">
              <a:buFont typeface="Wingdings" panose="05000000000000000000" pitchFamily="2" charset="2"/>
              <a:buChar char="§"/>
            </a:pPr>
            <a:endParaRPr lang="es-ES" sz="1600" dirty="0">
              <a:solidFill>
                <a:schemeClr val="tx1"/>
              </a:solidFill>
            </a:endParaRPr>
          </a:p>
          <a:p>
            <a:pPr algn="just"/>
            <a:endParaRPr lang="es-ES" sz="1600" b="1" dirty="0">
              <a:solidFill>
                <a:schemeClr val="tx1"/>
              </a:solidFill>
            </a:endParaRPr>
          </a:p>
        </p:txBody>
      </p:sp>
    </p:spTree>
    <p:extLst>
      <p:ext uri="{BB962C8B-B14F-4D97-AF65-F5344CB8AC3E}">
        <p14:creationId xmlns:p14="http://schemas.microsoft.com/office/powerpoint/2010/main" val="3328613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7F3-F33A-8A73-6C52-84227AD1FC6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B882536-4685-61FE-7F03-D184762C5E37}"/>
              </a:ext>
            </a:extLst>
          </p:cNvPr>
          <p:cNvSpPr>
            <a:spLocks noGrp="1"/>
          </p:cNvSpPr>
          <p:nvPr>
            <p:ph type="title"/>
          </p:nvPr>
        </p:nvSpPr>
        <p:spPr/>
        <p:txBody>
          <a:bodyPr/>
          <a:lstStyle/>
          <a:p>
            <a:r>
              <a:rPr lang="es-ES" dirty="0"/>
              <a:t>4.4 Evolución del Marco Normativo: NTC 2017 vs. NTC 2023</a:t>
            </a:r>
            <a:endParaRPr lang="es-MX" dirty="0"/>
          </a:p>
        </p:txBody>
      </p:sp>
      <p:sp>
        <p:nvSpPr>
          <p:cNvPr id="3" name="Marcador de texto 2">
            <a:extLst>
              <a:ext uri="{FF2B5EF4-FFF2-40B4-BE49-F238E27FC236}">
                <a16:creationId xmlns:a16="http://schemas.microsoft.com/office/drawing/2014/main" id="{B8827DBA-4284-428D-68ED-C932A4B5F3C5}"/>
              </a:ext>
            </a:extLst>
          </p:cNvPr>
          <p:cNvSpPr>
            <a:spLocks noGrp="1"/>
          </p:cNvSpPr>
          <p:nvPr>
            <p:ph type="body" sz="quarter" idx="10"/>
          </p:nvPr>
        </p:nvSpPr>
        <p:spPr>
          <a:xfrm>
            <a:off x="457202" y="1203598"/>
            <a:ext cx="7843850" cy="3096344"/>
          </a:xfrm>
        </p:spPr>
        <p:txBody>
          <a:bodyPr>
            <a:noAutofit/>
          </a:bodyPr>
          <a:lstStyle/>
          <a:p>
            <a:pPr algn="just"/>
            <a:r>
              <a:rPr lang="es-ES" sz="1600" dirty="0">
                <a:solidFill>
                  <a:schemeClr val="tx1"/>
                </a:solidFill>
              </a:rPr>
              <a:t>● NTC 2017: Basada en distribución de esfuerzos y resistencia de materiales clásica.</a:t>
            </a:r>
          </a:p>
          <a:p>
            <a:pPr algn="just"/>
            <a:r>
              <a:rPr lang="es-ES" sz="1600" dirty="0">
                <a:solidFill>
                  <a:schemeClr val="tx1"/>
                </a:solidFill>
              </a:rPr>
              <a:t>● NTC 2023: - Actualización de factores de carga y resistencia.</a:t>
            </a:r>
          </a:p>
          <a:p>
            <a:pPr algn="just"/>
            <a:endParaRPr lang="es-ES" sz="1600" dirty="0">
              <a:solidFill>
                <a:schemeClr val="tx1"/>
              </a:solidFill>
            </a:endParaRPr>
          </a:p>
          <a:p>
            <a:pPr algn="just"/>
            <a:r>
              <a:rPr lang="es-ES" sz="1600" dirty="0">
                <a:solidFill>
                  <a:schemeClr val="tx1"/>
                </a:solidFill>
              </a:rPr>
              <a:t>Refinamiento en interacción tensión-cortante.</a:t>
            </a:r>
          </a:p>
          <a:p>
            <a:pPr algn="just"/>
            <a:r>
              <a:rPr lang="es-ES" sz="1600" dirty="0">
                <a:solidFill>
                  <a:schemeClr val="tx1"/>
                </a:solidFill>
              </a:rPr>
              <a:t>Nuevos criterios para la distribución de presiones rectangulares equivalentes.</a:t>
            </a:r>
          </a:p>
          <a:p>
            <a:pPr algn="just"/>
            <a:endParaRPr lang="es-ES" sz="1600" b="1" dirty="0">
              <a:solidFill>
                <a:schemeClr val="tx1"/>
              </a:solidFill>
            </a:endParaRPr>
          </a:p>
        </p:txBody>
      </p:sp>
    </p:spTree>
    <p:extLst>
      <p:ext uri="{BB962C8B-B14F-4D97-AF65-F5344CB8AC3E}">
        <p14:creationId xmlns:p14="http://schemas.microsoft.com/office/powerpoint/2010/main" val="590859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E9DB8-6D95-DF96-073A-6F757E55BD76}"/>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B87EEB1A-2511-2E5F-35B5-AC99E733F195}"/>
              </a:ext>
            </a:extLst>
          </p:cNvPr>
          <p:cNvPicPr>
            <a:picLocks noChangeAspect="1"/>
          </p:cNvPicPr>
          <p:nvPr/>
        </p:nvPicPr>
        <p:blipFill>
          <a:blip r:embed="rId2">
            <a:extLst>
              <a:ext uri="{28A0092B-C50C-407E-A947-70E740481C1C}">
                <a14:useLocalDpi xmlns:a14="http://schemas.microsoft.com/office/drawing/2010/main" val="0"/>
              </a:ext>
            </a:extLst>
          </a:blip>
          <a:srcRect t="1387" r="10666" b="55201"/>
          <a:stretch>
            <a:fillRect/>
          </a:stretch>
        </p:blipFill>
        <p:spPr>
          <a:xfrm>
            <a:off x="2159732" y="765639"/>
            <a:ext cx="4824536" cy="4371950"/>
          </a:xfrm>
          <a:prstGeom prst="rect">
            <a:avLst/>
          </a:prstGeom>
        </p:spPr>
      </p:pic>
      <p:sp>
        <p:nvSpPr>
          <p:cNvPr id="2" name="Título 1">
            <a:extLst>
              <a:ext uri="{FF2B5EF4-FFF2-40B4-BE49-F238E27FC236}">
                <a16:creationId xmlns:a16="http://schemas.microsoft.com/office/drawing/2014/main" id="{3A21F79D-B496-9900-FA13-982AD8C69870}"/>
              </a:ext>
            </a:extLst>
          </p:cNvPr>
          <p:cNvSpPr>
            <a:spLocks noGrp="1"/>
          </p:cNvSpPr>
          <p:nvPr>
            <p:ph type="title"/>
          </p:nvPr>
        </p:nvSpPr>
        <p:spPr/>
        <p:txBody>
          <a:bodyPr/>
          <a:lstStyle/>
          <a:p>
            <a:r>
              <a:rPr lang="es-ES" dirty="0"/>
              <a:t>4.5 Diagrama de flujo de diseño de la placa base de columna de acero solo bajo carga axial</a:t>
            </a:r>
            <a:endParaRPr lang="es-MX" dirty="0"/>
          </a:p>
        </p:txBody>
      </p:sp>
    </p:spTree>
    <p:extLst>
      <p:ext uri="{BB962C8B-B14F-4D97-AF65-F5344CB8AC3E}">
        <p14:creationId xmlns:p14="http://schemas.microsoft.com/office/powerpoint/2010/main" val="3619991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8A3AD-7189-13BE-EC12-567592EA4DBF}"/>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1478F732-33C6-2E20-F49B-E9081A9CB02B}"/>
              </a:ext>
            </a:extLst>
          </p:cNvPr>
          <p:cNvPicPr>
            <a:picLocks noChangeAspect="1"/>
          </p:cNvPicPr>
          <p:nvPr/>
        </p:nvPicPr>
        <p:blipFill>
          <a:blip r:embed="rId2">
            <a:extLst>
              <a:ext uri="{28A0092B-C50C-407E-A947-70E740481C1C}">
                <a14:useLocalDpi xmlns:a14="http://schemas.microsoft.com/office/drawing/2010/main" val="0"/>
              </a:ext>
            </a:extLst>
          </a:blip>
          <a:srcRect l="3009" t="44400" r="3009"/>
          <a:stretch>
            <a:fillRect/>
          </a:stretch>
        </p:blipFill>
        <p:spPr>
          <a:xfrm>
            <a:off x="2492584" y="555526"/>
            <a:ext cx="4158831" cy="4587974"/>
          </a:xfrm>
          <a:prstGeom prst="rect">
            <a:avLst/>
          </a:prstGeom>
        </p:spPr>
      </p:pic>
    </p:spTree>
    <p:extLst>
      <p:ext uri="{BB962C8B-B14F-4D97-AF65-F5344CB8AC3E}">
        <p14:creationId xmlns:p14="http://schemas.microsoft.com/office/powerpoint/2010/main" val="2041417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A5672-17A5-0270-6A88-63E2042F14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88CD1C-8C4C-08AD-19B2-435E0DA6BD40}"/>
              </a:ext>
            </a:extLst>
          </p:cNvPr>
          <p:cNvSpPr>
            <a:spLocks noGrp="1"/>
          </p:cNvSpPr>
          <p:nvPr>
            <p:ph type="title"/>
          </p:nvPr>
        </p:nvSpPr>
        <p:spPr/>
        <p:txBody>
          <a:bodyPr/>
          <a:lstStyle/>
          <a:p>
            <a:r>
              <a:rPr lang="es-ES" dirty="0"/>
              <a:t>5. Metodología</a:t>
            </a:r>
            <a:endParaRPr lang="es-MX" dirty="0"/>
          </a:p>
        </p:txBody>
      </p:sp>
      <p:sp>
        <p:nvSpPr>
          <p:cNvPr id="3" name="Marcador de texto 2">
            <a:extLst>
              <a:ext uri="{FF2B5EF4-FFF2-40B4-BE49-F238E27FC236}">
                <a16:creationId xmlns:a16="http://schemas.microsoft.com/office/drawing/2014/main" id="{CAC61767-1EA8-7E51-16C7-AEC80E674BAF}"/>
              </a:ext>
            </a:extLst>
          </p:cNvPr>
          <p:cNvSpPr>
            <a:spLocks noGrp="1"/>
          </p:cNvSpPr>
          <p:nvPr>
            <p:ph type="body" sz="quarter" idx="10"/>
          </p:nvPr>
        </p:nvSpPr>
        <p:spPr>
          <a:xfrm>
            <a:off x="930425" y="1203598"/>
            <a:ext cx="7283150" cy="1872208"/>
          </a:xfrm>
        </p:spPr>
        <p:txBody>
          <a:bodyPr>
            <a:noAutofit/>
          </a:bodyPr>
          <a:lstStyle/>
          <a:p>
            <a:pPr algn="just"/>
            <a:r>
              <a:rPr lang="es-ES" sz="1600" dirty="0">
                <a:solidFill>
                  <a:schemeClr val="tx1"/>
                </a:solidFill>
              </a:rPr>
              <a:t>La presente investigación tiene un enfoque cuantitativo y analítico-comparativo. Se basa en el cálculo numérico riguroso y la contrastación de resultados geométricos y mecánicos obtenidos al aplicar dos marcos normativos distintos sobre un mismo conjunto de solicitaciones estructurales.</a:t>
            </a:r>
          </a:p>
          <a:p>
            <a:pPr algn="just"/>
            <a:endParaRPr lang="es-ES" sz="1600" b="1" dirty="0">
              <a:solidFill>
                <a:schemeClr val="tx1"/>
              </a:solidFill>
            </a:endParaRPr>
          </a:p>
        </p:txBody>
      </p:sp>
    </p:spTree>
    <p:extLst>
      <p:ext uri="{BB962C8B-B14F-4D97-AF65-F5344CB8AC3E}">
        <p14:creationId xmlns:p14="http://schemas.microsoft.com/office/powerpoint/2010/main" val="3725002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30E9B-DF50-4198-FA26-B59291E01EB6}"/>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C3095AB3-39CA-1F7B-338B-774BFBF22C84}"/>
              </a:ext>
            </a:extLst>
          </p:cNvPr>
          <p:cNvPicPr>
            <a:picLocks noChangeAspect="1"/>
          </p:cNvPicPr>
          <p:nvPr/>
        </p:nvPicPr>
        <p:blipFill>
          <a:blip r:embed="rId2"/>
          <a:srcRect t="49860" b="2412"/>
          <a:stretch>
            <a:fillRect/>
          </a:stretch>
        </p:blipFill>
        <p:spPr>
          <a:xfrm>
            <a:off x="4739855" y="1348277"/>
            <a:ext cx="3448531" cy="1741394"/>
          </a:xfrm>
          <a:prstGeom prst="rect">
            <a:avLst/>
          </a:prstGeom>
        </p:spPr>
      </p:pic>
      <p:sp>
        <p:nvSpPr>
          <p:cNvPr id="2" name="Título 1">
            <a:extLst>
              <a:ext uri="{FF2B5EF4-FFF2-40B4-BE49-F238E27FC236}">
                <a16:creationId xmlns:a16="http://schemas.microsoft.com/office/drawing/2014/main" id="{012D020E-45C9-13DE-38EE-581E82B0586B}"/>
              </a:ext>
            </a:extLst>
          </p:cNvPr>
          <p:cNvSpPr>
            <a:spLocks noGrp="1"/>
          </p:cNvSpPr>
          <p:nvPr>
            <p:ph type="title"/>
          </p:nvPr>
        </p:nvSpPr>
        <p:spPr/>
        <p:txBody>
          <a:bodyPr/>
          <a:lstStyle/>
          <a:p>
            <a:r>
              <a:rPr lang="es-ES" dirty="0"/>
              <a:t>5. 1	Definición de Casos de Estudio</a:t>
            </a:r>
            <a:endParaRPr lang="es-MX" dirty="0"/>
          </a:p>
        </p:txBody>
      </p:sp>
      <p:pic>
        <p:nvPicPr>
          <p:cNvPr id="10" name="Imagen 9">
            <a:extLst>
              <a:ext uri="{FF2B5EF4-FFF2-40B4-BE49-F238E27FC236}">
                <a16:creationId xmlns:a16="http://schemas.microsoft.com/office/drawing/2014/main" id="{4542CA0A-9C28-3A64-FF78-79F149C527C3}"/>
              </a:ext>
            </a:extLst>
          </p:cNvPr>
          <p:cNvPicPr>
            <a:picLocks noChangeAspect="1"/>
          </p:cNvPicPr>
          <p:nvPr/>
        </p:nvPicPr>
        <p:blipFill>
          <a:blip r:embed="rId2"/>
          <a:srcRect b="52272"/>
          <a:stretch>
            <a:fillRect/>
          </a:stretch>
        </p:blipFill>
        <p:spPr>
          <a:xfrm>
            <a:off x="971600" y="1190396"/>
            <a:ext cx="3448531" cy="1741394"/>
          </a:xfrm>
          <a:prstGeom prst="rect">
            <a:avLst/>
          </a:prstGeom>
        </p:spPr>
      </p:pic>
      <p:pic>
        <p:nvPicPr>
          <p:cNvPr id="12" name="Imagen 11">
            <a:extLst>
              <a:ext uri="{FF2B5EF4-FFF2-40B4-BE49-F238E27FC236}">
                <a16:creationId xmlns:a16="http://schemas.microsoft.com/office/drawing/2014/main" id="{9772577F-81CE-DF9E-9698-CFF33CC8560A}"/>
              </a:ext>
            </a:extLst>
          </p:cNvPr>
          <p:cNvPicPr>
            <a:picLocks noChangeAspect="1"/>
          </p:cNvPicPr>
          <p:nvPr/>
        </p:nvPicPr>
        <p:blipFill>
          <a:blip r:embed="rId3"/>
          <a:srcRect b="2659"/>
          <a:stretch>
            <a:fillRect/>
          </a:stretch>
        </p:blipFill>
        <p:spPr>
          <a:xfrm>
            <a:off x="2411760" y="3055172"/>
            <a:ext cx="4936687" cy="2088328"/>
          </a:xfrm>
          <a:prstGeom prst="rect">
            <a:avLst/>
          </a:prstGeom>
        </p:spPr>
      </p:pic>
    </p:spTree>
    <p:extLst>
      <p:ext uri="{BB962C8B-B14F-4D97-AF65-F5344CB8AC3E}">
        <p14:creationId xmlns:p14="http://schemas.microsoft.com/office/powerpoint/2010/main" val="277880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7996-89BE-7D0A-50FF-EF5F72D6B52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FBA01A-5A99-7EE5-4509-B10788C97E19}"/>
              </a:ext>
            </a:extLst>
          </p:cNvPr>
          <p:cNvSpPr>
            <a:spLocks noGrp="1"/>
          </p:cNvSpPr>
          <p:nvPr>
            <p:ph type="title"/>
          </p:nvPr>
        </p:nvSpPr>
        <p:spPr/>
        <p:txBody>
          <a:bodyPr/>
          <a:lstStyle/>
          <a:p>
            <a:r>
              <a:rPr lang="es-ES" dirty="0"/>
              <a:t>5.2	Herramientas y Recursos</a:t>
            </a:r>
            <a:endParaRPr lang="es-MX" dirty="0"/>
          </a:p>
        </p:txBody>
      </p:sp>
      <p:sp>
        <p:nvSpPr>
          <p:cNvPr id="3" name="Marcador de texto 2">
            <a:extLst>
              <a:ext uri="{FF2B5EF4-FFF2-40B4-BE49-F238E27FC236}">
                <a16:creationId xmlns:a16="http://schemas.microsoft.com/office/drawing/2014/main" id="{156DD35C-EE56-78F3-1BBC-CA88ED7F5F00}"/>
              </a:ext>
            </a:extLst>
          </p:cNvPr>
          <p:cNvSpPr>
            <a:spLocks noGrp="1"/>
          </p:cNvSpPr>
          <p:nvPr>
            <p:ph type="body" sz="quarter" idx="10"/>
          </p:nvPr>
        </p:nvSpPr>
        <p:spPr>
          <a:xfrm>
            <a:off x="930425" y="1203598"/>
            <a:ext cx="7283150" cy="3312368"/>
          </a:xfrm>
        </p:spPr>
        <p:txBody>
          <a:bodyPr>
            <a:noAutofit/>
          </a:bodyPr>
          <a:lstStyle/>
          <a:p>
            <a:pPr algn="just"/>
            <a:r>
              <a:rPr lang="es-ES" sz="1600" dirty="0">
                <a:solidFill>
                  <a:schemeClr val="tx1"/>
                </a:solidFill>
              </a:rPr>
              <a:t>Hojas de Cálculo: Programación de rutinas en Microsoft Excel y Mathcad. </a:t>
            </a:r>
          </a:p>
          <a:p>
            <a:pPr algn="just"/>
            <a:endParaRPr lang="es-ES" sz="1600" dirty="0">
              <a:solidFill>
                <a:schemeClr val="tx1"/>
              </a:solidFill>
            </a:endParaRPr>
          </a:p>
          <a:p>
            <a:pPr algn="just"/>
            <a:r>
              <a:rPr lang="es-ES" sz="1600" dirty="0">
                <a:solidFill>
                  <a:schemeClr val="tx1"/>
                </a:solidFill>
              </a:rPr>
              <a:t>• Software de Diseño (Opcional): De manera complementaria, podrá emplearse el software de diseño de conexiones RAM </a:t>
            </a:r>
            <a:r>
              <a:rPr lang="es-ES" sz="1600" dirty="0" err="1">
                <a:solidFill>
                  <a:schemeClr val="tx1"/>
                </a:solidFill>
              </a:rPr>
              <a:t>Conecction</a:t>
            </a:r>
            <a:r>
              <a:rPr lang="es-ES" sz="1600" dirty="0">
                <a:solidFill>
                  <a:schemeClr val="tx1"/>
                </a:solidFill>
              </a:rPr>
              <a:t> para verificar resultados puntuales; sin embargo, la validez central del trabajo recaerá en el cálculo analítico desarrollado en las hojas de cálculo. </a:t>
            </a:r>
          </a:p>
          <a:p>
            <a:pPr algn="just"/>
            <a:endParaRPr lang="es-ES" sz="1600" dirty="0">
              <a:solidFill>
                <a:schemeClr val="tx1"/>
              </a:solidFill>
            </a:endParaRPr>
          </a:p>
          <a:p>
            <a:pPr algn="just"/>
            <a:r>
              <a:rPr lang="es-ES" sz="1600" dirty="0">
                <a:solidFill>
                  <a:schemeClr val="tx1"/>
                </a:solidFill>
              </a:rPr>
              <a:t>• Acervo Normativo: Gacetas oficiales correspondientes a las NTC 2017 y NTC 2023 </a:t>
            </a:r>
          </a:p>
          <a:p>
            <a:pPr algn="just"/>
            <a:r>
              <a:rPr lang="es-ES" sz="1600" dirty="0">
                <a:solidFill>
                  <a:schemeClr val="tx1"/>
                </a:solidFill>
              </a:rPr>
              <a:t>aplicables al diseño de estructuras de acero y cimentaciones. </a:t>
            </a:r>
            <a:endParaRPr lang="es-ES" sz="1600" b="1" dirty="0">
              <a:solidFill>
                <a:schemeClr val="tx1"/>
              </a:solidFill>
            </a:endParaRPr>
          </a:p>
        </p:txBody>
      </p:sp>
    </p:spTree>
    <p:extLst>
      <p:ext uri="{BB962C8B-B14F-4D97-AF65-F5344CB8AC3E}">
        <p14:creationId xmlns:p14="http://schemas.microsoft.com/office/powerpoint/2010/main" val="3014952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sz="quarter" idx="14"/>
          </p:nvPr>
        </p:nvSpPr>
        <p:spPr/>
        <p:txBody>
          <a:bodyPr/>
          <a:lstStyle/>
          <a:p>
            <a:endParaRPr lang="es-MX" dirty="0"/>
          </a:p>
        </p:txBody>
      </p:sp>
      <p:sp>
        <p:nvSpPr>
          <p:cNvPr id="3" name="Marcador de contenido 2"/>
          <p:cNvSpPr>
            <a:spLocks noGrp="1"/>
          </p:cNvSpPr>
          <p:nvPr>
            <p:ph sz="quarter" idx="15"/>
          </p:nvPr>
        </p:nvSpPr>
        <p:spPr/>
        <p:txBody>
          <a:bodyPr/>
          <a:lstStyle/>
          <a:p>
            <a:endParaRPr lang="es-MX" dirty="0"/>
          </a:p>
        </p:txBody>
      </p:sp>
      <p:sp>
        <p:nvSpPr>
          <p:cNvPr id="4" name="Marcador de texto 3"/>
          <p:cNvSpPr>
            <a:spLocks noGrp="1"/>
          </p:cNvSpPr>
          <p:nvPr>
            <p:ph type="body" sz="quarter" idx="16"/>
          </p:nvPr>
        </p:nvSpPr>
        <p:spPr/>
        <p:txBody>
          <a:bodyPr/>
          <a:lstStyle/>
          <a:p>
            <a:endParaRPr lang="es-MX" dirty="0"/>
          </a:p>
        </p:txBody>
      </p:sp>
      <p:sp>
        <p:nvSpPr>
          <p:cNvPr id="5" name="Marcador de texto 4"/>
          <p:cNvSpPr>
            <a:spLocks noGrp="1"/>
          </p:cNvSpPr>
          <p:nvPr>
            <p:ph type="body" sz="quarter" idx="17"/>
          </p:nvPr>
        </p:nvSpPr>
        <p:spPr/>
        <p:txBody>
          <a:bodyPr/>
          <a:lstStyle/>
          <a:p>
            <a:endParaRPr lang="es-MX" dirty="0"/>
          </a:p>
        </p:txBody>
      </p:sp>
    </p:spTree>
    <p:extLst>
      <p:ext uri="{BB962C8B-B14F-4D97-AF65-F5344CB8AC3E}">
        <p14:creationId xmlns:p14="http://schemas.microsoft.com/office/powerpoint/2010/main" val="22110887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sz="quarter" idx="10"/>
          </p:nvPr>
        </p:nvSpPr>
        <p:spPr/>
        <p:txBody>
          <a:bodyPr/>
          <a:lstStyle/>
          <a:p>
            <a:endParaRPr lang="es-MX" dirty="0"/>
          </a:p>
        </p:txBody>
      </p:sp>
      <p:sp>
        <p:nvSpPr>
          <p:cNvPr id="3" name="Marcador de texto 2"/>
          <p:cNvSpPr>
            <a:spLocks noGrp="1"/>
          </p:cNvSpPr>
          <p:nvPr>
            <p:ph type="body" sz="quarter" idx="11"/>
          </p:nvPr>
        </p:nvSpPr>
        <p:spPr/>
        <p:txBody>
          <a:bodyPr>
            <a:normAutofit/>
          </a:bodyPr>
          <a:lstStyle/>
          <a:p>
            <a:endParaRPr lang="es-MX" dirty="0"/>
          </a:p>
        </p:txBody>
      </p:sp>
      <p:sp>
        <p:nvSpPr>
          <p:cNvPr id="4" name="Marcador de texto 3"/>
          <p:cNvSpPr>
            <a:spLocks noGrp="1"/>
          </p:cNvSpPr>
          <p:nvPr>
            <p:ph type="body" sz="quarter" idx="12"/>
          </p:nvPr>
        </p:nvSpPr>
        <p:spPr/>
        <p:txBody>
          <a:bodyPr/>
          <a:lstStyle/>
          <a:p>
            <a:endParaRPr lang="es-MX" dirty="0"/>
          </a:p>
        </p:txBody>
      </p:sp>
    </p:spTree>
    <p:extLst>
      <p:ext uri="{BB962C8B-B14F-4D97-AF65-F5344CB8AC3E}">
        <p14:creationId xmlns:p14="http://schemas.microsoft.com/office/powerpoint/2010/main" val="6922850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endParaRPr lang="es-MX" dirty="0"/>
          </a:p>
        </p:txBody>
      </p:sp>
      <p:sp>
        <p:nvSpPr>
          <p:cNvPr id="3" name="Marcador de posición de imagen 2"/>
          <p:cNvSpPr>
            <a:spLocks noGrp="1"/>
          </p:cNvSpPr>
          <p:nvPr>
            <p:ph type="pic" sz="quarter" idx="13"/>
          </p:nvPr>
        </p:nvSpPr>
        <p:spPr/>
        <p:txBody>
          <a:bodyPr/>
          <a:lstStyle/>
          <a:p>
            <a:endParaRPr lang="es-MX"/>
          </a:p>
        </p:txBody>
      </p:sp>
      <p:sp>
        <p:nvSpPr>
          <p:cNvPr id="4" name="Marcador de texto 3"/>
          <p:cNvSpPr>
            <a:spLocks noGrp="1"/>
          </p:cNvSpPr>
          <p:nvPr>
            <p:ph type="body" sz="quarter" idx="14"/>
          </p:nvPr>
        </p:nvSpPr>
        <p:spPr/>
        <p:txBody>
          <a:bodyPr>
            <a:noAutofit/>
          </a:bodyPr>
          <a:lstStyle/>
          <a:p>
            <a:endParaRPr lang="es-MX" dirty="0"/>
          </a:p>
        </p:txBody>
      </p:sp>
    </p:spTree>
    <p:extLst>
      <p:ext uri="{BB962C8B-B14F-4D97-AF65-F5344CB8AC3E}">
        <p14:creationId xmlns:p14="http://schemas.microsoft.com/office/powerpoint/2010/main" val="29501037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endParaRPr lang="es-MX" dirty="0"/>
          </a:p>
        </p:txBody>
      </p:sp>
      <p:sp>
        <p:nvSpPr>
          <p:cNvPr id="3" name="Marcador de texto 2"/>
          <p:cNvSpPr>
            <a:spLocks noGrp="1"/>
          </p:cNvSpPr>
          <p:nvPr>
            <p:ph type="body" sz="quarter" idx="10"/>
          </p:nvPr>
        </p:nvSpPr>
        <p:spPr/>
        <p:txBody>
          <a:bodyPr/>
          <a:lstStyle/>
          <a:p>
            <a:endParaRPr lang="es-MX" dirty="0"/>
          </a:p>
        </p:txBody>
      </p:sp>
    </p:spTree>
    <p:extLst>
      <p:ext uri="{BB962C8B-B14F-4D97-AF65-F5344CB8AC3E}">
        <p14:creationId xmlns:p14="http://schemas.microsoft.com/office/powerpoint/2010/main" val="3376180551"/>
      </p:ext>
    </p:extLst>
  </p:cSld>
  <p:clrMapOvr>
    <a:masterClrMapping/>
  </p:clrMapOvr>
</p:sld>
</file>

<file path=ppt/theme/theme1.xml><?xml version="1.0" encoding="utf-8"?>
<a:theme xmlns:a="http://schemas.openxmlformats.org/drawingml/2006/main" name="3234 Portada facebook con fotografia_RGB">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ción1" id="{EA541A49-8E3F-42EC-BDEC-1E4DDBAD5F1A}" vid="{C711CBF6-4D2A-42B7-842F-7ED3AFEA8ACC}"/>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3923 Presentacion PPT_16 a 9</Template>
  <TotalTime>543</TotalTime>
  <Words>1520</Words>
  <Application>Microsoft Office PowerPoint</Application>
  <PresentationFormat>Presentación en pantalla (16:9)</PresentationFormat>
  <Paragraphs>98</Paragraphs>
  <Slides>27</Slides>
  <Notes>0</Notes>
  <HiddenSlides>1</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27</vt:i4>
      </vt:variant>
    </vt:vector>
  </HeadingPairs>
  <TitlesOfParts>
    <vt:vector size="32" baseType="lpstr">
      <vt:lpstr>Arial</vt:lpstr>
      <vt:lpstr>Calibri</vt:lpstr>
      <vt:lpstr>Gill Sans MT</vt:lpstr>
      <vt:lpstr>Wingdings</vt:lpstr>
      <vt:lpstr>3234 Portada facebook con fotografia_RGB</vt:lpstr>
      <vt:lpstr>Facultad de Ingeniería de la construcción y el Hábitat </vt:lpstr>
      <vt:lpstr>Índice </vt:lpstr>
      <vt:lpstr>Presentación de PowerPoint</vt:lpstr>
      <vt:lpstr>1. Introducción </vt:lpstr>
      <vt:lpstr>1.1 El Sismo del 19 de Septiembre de 2017 y la Evidencia Forense Estructural</vt:lpstr>
      <vt:lpstr>1.1.1 Patrones de falla estructural</vt:lpstr>
      <vt:lpstr>1.2 Distribución lineal de presiones</vt:lpstr>
      <vt:lpstr>1.3 El efecto de palanca (prying action)</vt:lpstr>
      <vt:lpstr>1.4 Estados límite de falla en anclajes</vt:lpstr>
      <vt:lpstr>1.5 Estados límite de falla en anclajes</vt:lpstr>
      <vt:lpstr>2. Planteamiento del Problema</vt:lpstr>
      <vt:lpstr>2. Planteamiento del Problema</vt:lpstr>
      <vt:lpstr>3. Objetivos  3.1 Objetivos generales</vt:lpstr>
      <vt:lpstr>3.2 Objetivos Específicos</vt:lpstr>
      <vt:lpstr>4. Marco teórico</vt:lpstr>
      <vt:lpstr>Presentación de PowerPoint</vt:lpstr>
      <vt:lpstr>4.3 Modos de Falla en Placas Base</vt:lpstr>
      <vt:lpstr>4.4 Evolución del Marco Normativo: NTC 2017 vs. NTC 2023</vt:lpstr>
      <vt:lpstr>4.5 Diagrama de flujo de diseño de la placa base de columna de acero solo bajo carga axial</vt:lpstr>
      <vt:lpstr>Presentación de PowerPoint</vt:lpstr>
      <vt:lpstr>5. Metodología</vt:lpstr>
      <vt:lpstr>5. 1 Definición de Casos de Estudio</vt:lpstr>
      <vt:lpstr>5.2 Herramientas y Recursos</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PEREZ JARAMILLO YAMILETH</dc:creator>
  <cp:lastModifiedBy>Nim Pj</cp:lastModifiedBy>
  <cp:revision>4</cp:revision>
  <dcterms:created xsi:type="dcterms:W3CDTF">2026-03-25T02:10:17Z</dcterms:created>
  <dcterms:modified xsi:type="dcterms:W3CDTF">2026-04-15T04:11:57Z</dcterms:modified>
</cp:coreProperties>
</file>